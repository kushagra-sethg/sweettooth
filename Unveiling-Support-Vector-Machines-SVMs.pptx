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Host Grotesk Medium"/>
      <p:regular r:id="rId17"/>
    </p:embeddedFont>
    <p:embeddedFont>
      <p:font typeface="Host Grotesk Medium"/>
      <p:regular r:id="rId18"/>
    </p:embeddedFont>
    <p:embeddedFont>
      <p:font typeface="Host Grotesk Medium"/>
      <p:regular r:id="rId19"/>
    </p:embeddedFont>
    <p:embeddedFont>
      <p:font typeface="Host Grotesk Medium"/>
      <p:regular r:id="rId20"/>
    </p:embeddedFont>
    <p:embeddedFont>
      <p:font typeface="Roboto"/>
      <p:regular r:id="rId21"/>
    </p:embeddedFont>
    <p:embeddedFont>
      <p:font typeface="Roboto"/>
      <p:regular r:id="rId22"/>
    </p:embeddedFont>
    <p:embeddedFont>
      <p:font typeface="Roboto"/>
      <p:regular r:id="rId23"/>
    </p:embeddedFont>
    <p:embeddedFont>
      <p:font typeface="Roboto"/>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5.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sv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svg"/><Relationship Id="rId13" Type="http://schemas.openxmlformats.org/officeDocument/2006/relationships/slideLayout" Target="../slideLayouts/slideLayout6.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8.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0.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1.xml"/><Relationship Id="rId9"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128891" y="2891790"/>
            <a:ext cx="2514600" cy="2446020"/>
          </a:xfrm>
          <a:prstGeom prst="rect">
            <a:avLst/>
          </a:prstGeom>
        </p:spPr>
      </p:pic>
      <p:sp>
        <p:nvSpPr>
          <p:cNvPr id="3" name="Text 0"/>
          <p:cNvSpPr/>
          <p:nvPr/>
        </p:nvSpPr>
        <p:spPr>
          <a:xfrm>
            <a:off x="793790" y="2452926"/>
            <a:ext cx="7556421" cy="1240155"/>
          </a:xfrm>
          <a:prstGeom prst="rect">
            <a:avLst/>
          </a:prstGeom>
          <a:noFill/>
          <a:ln/>
        </p:spPr>
        <p:txBody>
          <a:bodyPr wrap="square" lIns="0" tIns="0" rIns="0" bIns="0" rtlCol="0" anchor="t"/>
          <a:lstStyle/>
          <a:p>
            <a:pPr algn="l" indent="0" marL="0">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Unveiling Support Vector Machines (SVMs)</a:t>
            </a:r>
            <a:endParaRPr lang="en-US" sz="3900" dirty="0"/>
          </a:p>
        </p:txBody>
      </p:sp>
      <p:sp>
        <p:nvSpPr>
          <p:cNvPr id="4" name="Text 1"/>
          <p:cNvSpPr/>
          <p:nvPr/>
        </p:nvSpPr>
        <p:spPr>
          <a:xfrm>
            <a:off x="793790" y="3990737"/>
            <a:ext cx="7556421" cy="1785938"/>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Support Vector Machines (SVMs) are powerful supervised machine learning algorithms. They are versatile, capable of handling classification, regression, and even outlier detection tasks. At their core, SVMs aim to find the optimal separating boundary, known as a hyperplane, that maximizes the distance between different classes of data. This "maximum margin" approach is what gives SVMs their robustness and effectiveness.</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604849"/>
          </a:xfrm>
          <a:prstGeom prst="rect">
            <a:avLst/>
          </a:prstGeom>
        </p:spPr>
      </p:pic>
      <p:sp>
        <p:nvSpPr>
          <p:cNvPr id="3" name="Text 0"/>
          <p:cNvSpPr/>
          <p:nvPr/>
        </p:nvSpPr>
        <p:spPr>
          <a:xfrm>
            <a:off x="793790" y="3716417"/>
            <a:ext cx="9547622" cy="620078"/>
          </a:xfrm>
          <a:prstGeom prst="rect">
            <a:avLst/>
          </a:prstGeom>
          <a:noFill/>
          <a:ln/>
        </p:spPr>
        <p:txBody>
          <a:bodyPr wrap="none" lIns="0" tIns="0" rIns="0" bIns="0" rtlCol="0" anchor="t"/>
          <a:lstStyle/>
          <a:p>
            <a:pPr algn="l" indent="0" marL="0">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Understanding the Core Concepts of SVM</a:t>
            </a:r>
            <a:endParaRPr lang="en-US" sz="3900" dirty="0"/>
          </a:p>
        </p:txBody>
      </p:sp>
      <p:sp>
        <p:nvSpPr>
          <p:cNvPr id="4" name="Shape 1"/>
          <p:cNvSpPr/>
          <p:nvPr/>
        </p:nvSpPr>
        <p:spPr>
          <a:xfrm>
            <a:off x="793790" y="4634151"/>
            <a:ext cx="4215289" cy="2359938"/>
          </a:xfrm>
          <a:prstGeom prst="roundRect">
            <a:avLst>
              <a:gd name="adj" fmla="val 4650"/>
            </a:avLst>
          </a:prstGeom>
          <a:solidFill>
            <a:srgbClr val="FAF9F5"/>
          </a:solidFill>
          <a:ln w="22860">
            <a:solidFill>
              <a:srgbClr val="BFD3D8"/>
            </a:solidFill>
            <a:prstDash val="solid"/>
          </a:ln>
        </p:spPr>
      </p:sp>
      <p:pic>
        <p:nvPicPr>
          <p:cNvPr id="5" name="Image 1" descr="preencoded.png">    </p:cNvPr>
          <p:cNvPicPr>
            <a:picLocks noChangeAspect="1"/>
          </p:cNvPicPr>
          <p:nvPr/>
        </p:nvPicPr>
        <p:blipFill>
          <a:blip r:embed="rId2"/>
          <a:stretch>
            <a:fillRect/>
          </a:stretch>
        </p:blipFill>
        <p:spPr>
          <a:xfrm>
            <a:off x="770930" y="4634151"/>
            <a:ext cx="91440" cy="2359938"/>
          </a:xfrm>
          <a:prstGeom prst="rect">
            <a:avLst/>
          </a:prstGeom>
        </p:spPr>
      </p:pic>
      <p:sp>
        <p:nvSpPr>
          <p:cNvPr id="6" name="Text 2"/>
          <p:cNvSpPr/>
          <p:nvPr/>
        </p:nvSpPr>
        <p:spPr>
          <a:xfrm>
            <a:off x="1083588" y="485536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Hyperplane</a:t>
            </a:r>
            <a:endParaRPr lang="en-US" sz="1950" dirty="0"/>
          </a:p>
        </p:txBody>
      </p:sp>
      <p:sp>
        <p:nvSpPr>
          <p:cNvPr id="7" name="Text 3"/>
          <p:cNvSpPr/>
          <p:nvPr/>
        </p:nvSpPr>
        <p:spPr>
          <a:xfrm>
            <a:off x="1083588" y="5284589"/>
            <a:ext cx="3704273" cy="1488281"/>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This is the decision boundary that distinctly separates different classes within the dataset. In a 2D space, it's a line; in 3D, it's a plane; and in higher dimensions, it's a hyperplane.</a:t>
            </a:r>
            <a:endParaRPr lang="en-US" sz="1550" dirty="0"/>
          </a:p>
        </p:txBody>
      </p:sp>
      <p:sp>
        <p:nvSpPr>
          <p:cNvPr id="8" name="Shape 4"/>
          <p:cNvSpPr/>
          <p:nvPr/>
        </p:nvSpPr>
        <p:spPr>
          <a:xfrm>
            <a:off x="5207437" y="4634151"/>
            <a:ext cx="4215408" cy="2359938"/>
          </a:xfrm>
          <a:prstGeom prst="roundRect">
            <a:avLst>
              <a:gd name="adj" fmla="val 4650"/>
            </a:avLst>
          </a:prstGeom>
          <a:solidFill>
            <a:srgbClr val="FAF9F5"/>
          </a:solidFill>
          <a:ln w="22860">
            <a:solidFill>
              <a:srgbClr val="BFD3D8"/>
            </a:solidFill>
            <a:prstDash val="solid"/>
          </a:ln>
        </p:spPr>
      </p:sp>
      <p:pic>
        <p:nvPicPr>
          <p:cNvPr id="9" name="Image 2" descr="preencoded.png">    </p:cNvPr>
          <p:cNvPicPr>
            <a:picLocks noChangeAspect="1"/>
          </p:cNvPicPr>
          <p:nvPr/>
        </p:nvPicPr>
        <p:blipFill>
          <a:blip r:embed="rId3"/>
          <a:stretch>
            <a:fillRect/>
          </a:stretch>
        </p:blipFill>
        <p:spPr>
          <a:xfrm>
            <a:off x="5184577" y="4634151"/>
            <a:ext cx="91440" cy="2359938"/>
          </a:xfrm>
          <a:prstGeom prst="rect">
            <a:avLst/>
          </a:prstGeom>
        </p:spPr>
      </p:pic>
      <p:sp>
        <p:nvSpPr>
          <p:cNvPr id="10" name="Text 5"/>
          <p:cNvSpPr/>
          <p:nvPr/>
        </p:nvSpPr>
        <p:spPr>
          <a:xfrm>
            <a:off x="5497235" y="485536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Margin</a:t>
            </a:r>
            <a:endParaRPr lang="en-US" sz="1950" dirty="0"/>
          </a:p>
        </p:txBody>
      </p:sp>
      <p:sp>
        <p:nvSpPr>
          <p:cNvPr id="11" name="Text 6"/>
          <p:cNvSpPr/>
          <p:nvPr/>
        </p:nvSpPr>
        <p:spPr>
          <a:xfrm>
            <a:off x="5497235" y="5284589"/>
            <a:ext cx="3704392" cy="1488281"/>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The margin represents the distance between the hyperplane and the closest data points from each class. The goal of an SVM is to maximize this margin, leading to better generalization.</a:t>
            </a:r>
            <a:endParaRPr lang="en-US" sz="1550" dirty="0"/>
          </a:p>
        </p:txBody>
      </p:sp>
      <p:sp>
        <p:nvSpPr>
          <p:cNvPr id="12" name="Shape 7"/>
          <p:cNvSpPr/>
          <p:nvPr/>
        </p:nvSpPr>
        <p:spPr>
          <a:xfrm>
            <a:off x="9621203" y="4634151"/>
            <a:ext cx="4215289" cy="2359938"/>
          </a:xfrm>
          <a:prstGeom prst="roundRect">
            <a:avLst>
              <a:gd name="adj" fmla="val 4650"/>
            </a:avLst>
          </a:prstGeom>
          <a:solidFill>
            <a:srgbClr val="FAF9F5"/>
          </a:solidFill>
          <a:ln w="22860">
            <a:solidFill>
              <a:srgbClr val="BFD3D8"/>
            </a:solidFill>
            <a:prstDash val="solid"/>
          </a:ln>
        </p:spPr>
      </p:sp>
      <p:pic>
        <p:nvPicPr>
          <p:cNvPr id="13" name="Image 3" descr="preencoded.png">    </p:cNvPr>
          <p:cNvPicPr>
            <a:picLocks noChangeAspect="1"/>
          </p:cNvPicPr>
          <p:nvPr/>
        </p:nvPicPr>
        <p:blipFill>
          <a:blip r:embed="rId4"/>
          <a:stretch>
            <a:fillRect/>
          </a:stretch>
        </p:blipFill>
        <p:spPr>
          <a:xfrm>
            <a:off x="9598343" y="4634151"/>
            <a:ext cx="91440" cy="2359938"/>
          </a:xfrm>
          <a:prstGeom prst="rect">
            <a:avLst/>
          </a:prstGeom>
        </p:spPr>
      </p:pic>
      <p:sp>
        <p:nvSpPr>
          <p:cNvPr id="14" name="Text 8"/>
          <p:cNvSpPr/>
          <p:nvPr/>
        </p:nvSpPr>
        <p:spPr>
          <a:xfrm>
            <a:off x="9911001" y="485536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Support Vectors</a:t>
            </a:r>
            <a:endParaRPr lang="en-US" sz="1950" dirty="0"/>
          </a:p>
        </p:txBody>
      </p:sp>
      <p:sp>
        <p:nvSpPr>
          <p:cNvPr id="15" name="Text 9"/>
          <p:cNvSpPr/>
          <p:nvPr/>
        </p:nvSpPr>
        <p:spPr>
          <a:xfrm>
            <a:off x="9911001" y="5284589"/>
            <a:ext cx="3704273" cy="1488281"/>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These are the critical data points that lie closest to the hyperplane. They are the most influential points, as they directly determine the position and orientation of the optimal hyperplane.</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21757" y="496372"/>
            <a:ext cx="10778252" cy="563880"/>
          </a:xfrm>
          <a:prstGeom prst="rect">
            <a:avLst/>
          </a:prstGeom>
          <a:noFill/>
          <a:ln/>
        </p:spPr>
        <p:txBody>
          <a:bodyPr wrap="none" lIns="0" tIns="0" rIns="0" bIns="0" rtlCol="0" anchor="t"/>
          <a:lstStyle/>
          <a:p>
            <a:pPr algn="l" indent="0" marL="0">
              <a:lnSpc>
                <a:spcPts val="4400"/>
              </a:lnSpc>
              <a:buNone/>
            </a:pPr>
            <a:r>
              <a:rPr lang="en-US" sz="3550" dirty="0">
                <a:solidFill>
                  <a:srgbClr val="2E3C4E"/>
                </a:solidFill>
                <a:latin typeface="Host Grotesk Medium" pitchFamily="34" charset="0"/>
                <a:ea typeface="Host Grotesk Medium" pitchFamily="34" charset="-122"/>
                <a:cs typeface="Host Grotesk Medium" pitchFamily="34" charset="-120"/>
              </a:rPr>
              <a:t>Why Choose SVMs? Key Advantages &amp; Applications</a:t>
            </a:r>
            <a:endParaRPr lang="en-US" sz="3550" dirty="0"/>
          </a:p>
        </p:txBody>
      </p:sp>
      <p:sp>
        <p:nvSpPr>
          <p:cNvPr id="3" name="Text 1"/>
          <p:cNvSpPr/>
          <p:nvPr/>
        </p:nvSpPr>
        <p:spPr>
          <a:xfrm>
            <a:off x="721757" y="1511260"/>
            <a:ext cx="2706648" cy="338257"/>
          </a:xfrm>
          <a:prstGeom prst="rect">
            <a:avLst/>
          </a:prstGeom>
          <a:noFill/>
          <a:ln/>
        </p:spPr>
        <p:txBody>
          <a:bodyPr wrap="none" lIns="0" tIns="0" rIns="0" bIns="0" rtlCol="0" anchor="t"/>
          <a:lstStyle/>
          <a:p>
            <a:pPr algn="l" indent="0" marL="0">
              <a:lnSpc>
                <a:spcPts val="2650"/>
              </a:lnSpc>
              <a:buNone/>
            </a:pPr>
            <a:r>
              <a:rPr lang="en-US" sz="2100" dirty="0">
                <a:solidFill>
                  <a:srgbClr val="2E3C4E"/>
                </a:solidFill>
                <a:latin typeface="Host Grotesk Medium" pitchFamily="34" charset="0"/>
                <a:ea typeface="Host Grotesk Medium" pitchFamily="34" charset="-122"/>
                <a:cs typeface="Host Grotesk Medium" pitchFamily="34" charset="-120"/>
              </a:rPr>
              <a:t>Why SVMs Excel:</a:t>
            </a:r>
            <a:endParaRPr lang="en-US" sz="2100" dirty="0"/>
          </a:p>
        </p:txBody>
      </p:sp>
      <p:sp>
        <p:nvSpPr>
          <p:cNvPr id="4" name="Text 2"/>
          <p:cNvSpPr/>
          <p:nvPr/>
        </p:nvSpPr>
        <p:spPr>
          <a:xfrm>
            <a:off x="721757" y="2029897"/>
            <a:ext cx="4101584" cy="1082993"/>
          </a:xfrm>
          <a:prstGeom prst="rect">
            <a:avLst/>
          </a:prstGeom>
          <a:noFill/>
          <a:ln/>
        </p:spPr>
        <p:txBody>
          <a:bodyPr wrap="square" lIns="0" tIns="0" rIns="0" bIns="0" rtlCol="0" anchor="t"/>
          <a:lstStyle/>
          <a:p>
            <a:pPr algn="l" marL="342900" indent="-342900">
              <a:lnSpc>
                <a:spcPts val="2100"/>
              </a:lnSpc>
              <a:buSzPct val="100000"/>
              <a:buChar char="•"/>
            </a:pPr>
            <a:r>
              <a:rPr lang="en-US" sz="1400" dirty="0">
                <a:solidFill>
                  <a:srgbClr val="95CCDA"/>
                </a:solidFill>
                <a:latin typeface="Roboto" pitchFamily="34" charset="0"/>
                <a:ea typeface="Roboto" pitchFamily="34" charset="-122"/>
                <a:cs typeface="Roboto" pitchFamily="34" charset="-120"/>
              </a:rPr>
              <a:t>High-Dimensional Effectiveness:</a:t>
            </a:r>
            <a:pPr algn="l" indent="0" marL="0">
              <a:lnSpc>
                <a:spcPts val="2100"/>
              </a:lnSpc>
              <a:buNone/>
            </a:pPr>
            <a:r>
              <a:rPr lang="en-US" sz="1400" dirty="0">
                <a:solidFill>
                  <a:srgbClr val="384653"/>
                </a:solidFill>
                <a:latin typeface="Roboto" pitchFamily="34" charset="0"/>
                <a:ea typeface="Roboto" pitchFamily="34" charset="-122"/>
                <a:cs typeface="Roboto" pitchFamily="34" charset="-120"/>
              </a:rPr>
              <a:t> SVMs perform exceptionally well even in spaces with a large number of features, making them suitable for complex datasets.</a:t>
            </a:r>
            <a:endParaRPr lang="en-US" sz="1400" dirty="0"/>
          </a:p>
        </p:txBody>
      </p:sp>
      <p:sp>
        <p:nvSpPr>
          <p:cNvPr id="5" name="Text 3"/>
          <p:cNvSpPr/>
          <p:nvPr/>
        </p:nvSpPr>
        <p:spPr>
          <a:xfrm>
            <a:off x="721757" y="3175992"/>
            <a:ext cx="4101584" cy="1082993"/>
          </a:xfrm>
          <a:prstGeom prst="rect">
            <a:avLst/>
          </a:prstGeom>
          <a:noFill/>
          <a:ln/>
        </p:spPr>
        <p:txBody>
          <a:bodyPr wrap="square" lIns="0" tIns="0" rIns="0" bIns="0" rtlCol="0" anchor="t"/>
          <a:lstStyle/>
          <a:p>
            <a:pPr algn="l" marL="342900" indent="-342900">
              <a:lnSpc>
                <a:spcPts val="2100"/>
              </a:lnSpc>
              <a:buSzPct val="100000"/>
              <a:buChar char="•"/>
            </a:pPr>
            <a:r>
              <a:rPr lang="en-US" sz="1400" dirty="0">
                <a:solidFill>
                  <a:srgbClr val="95CCDA"/>
                </a:solidFill>
                <a:latin typeface="Roboto" pitchFamily="34" charset="0"/>
                <a:ea typeface="Roboto" pitchFamily="34" charset="-122"/>
                <a:cs typeface="Roboto" pitchFamily="34" charset="-120"/>
              </a:rPr>
              <a:t>Clear Margin Separation:</a:t>
            </a:r>
            <a:pPr algn="l" indent="0" marL="0">
              <a:lnSpc>
                <a:spcPts val="2100"/>
              </a:lnSpc>
              <a:buNone/>
            </a:pPr>
            <a:r>
              <a:rPr lang="en-US" sz="1400" dirty="0">
                <a:solidFill>
                  <a:srgbClr val="384653"/>
                </a:solidFill>
                <a:latin typeface="Roboto" pitchFamily="34" charset="0"/>
                <a:ea typeface="Roboto" pitchFamily="34" charset="-122"/>
                <a:cs typeface="Roboto" pitchFamily="34" charset="-120"/>
              </a:rPr>
              <a:t> They are particularly effective when there's a discernible margin of separation between classes, leading to robust classification.</a:t>
            </a:r>
            <a:endParaRPr lang="en-US" sz="1400" dirty="0"/>
          </a:p>
        </p:txBody>
      </p:sp>
      <p:sp>
        <p:nvSpPr>
          <p:cNvPr id="6" name="Text 4"/>
          <p:cNvSpPr/>
          <p:nvPr/>
        </p:nvSpPr>
        <p:spPr>
          <a:xfrm>
            <a:off x="721757" y="4322088"/>
            <a:ext cx="4101584" cy="1082993"/>
          </a:xfrm>
          <a:prstGeom prst="rect">
            <a:avLst/>
          </a:prstGeom>
          <a:noFill/>
          <a:ln/>
        </p:spPr>
        <p:txBody>
          <a:bodyPr wrap="square" lIns="0" tIns="0" rIns="0" bIns="0" rtlCol="0" anchor="t"/>
          <a:lstStyle/>
          <a:p>
            <a:pPr algn="l" marL="342900" indent="-342900">
              <a:lnSpc>
                <a:spcPts val="2100"/>
              </a:lnSpc>
              <a:buSzPct val="100000"/>
              <a:buChar char="•"/>
            </a:pPr>
            <a:r>
              <a:rPr lang="en-US" sz="1400" dirty="0">
                <a:solidFill>
                  <a:srgbClr val="95CCDA"/>
                </a:solidFill>
                <a:latin typeface="Roboto" pitchFamily="34" charset="0"/>
                <a:ea typeface="Roboto" pitchFamily="34" charset="-122"/>
                <a:cs typeface="Roboto" pitchFamily="34" charset="-120"/>
              </a:rPr>
              <a:t>Robust Against Overfitting:</a:t>
            </a:r>
            <a:pPr algn="l" indent="0" marL="0">
              <a:lnSpc>
                <a:spcPts val="2100"/>
              </a:lnSpc>
              <a:buNone/>
            </a:pPr>
            <a:r>
              <a:rPr lang="en-US" sz="1400" dirty="0">
                <a:solidFill>
                  <a:srgbClr val="384653"/>
                </a:solidFill>
                <a:latin typeface="Roboto" pitchFamily="34" charset="0"/>
                <a:ea typeface="Roboto" pitchFamily="34" charset="-122"/>
                <a:cs typeface="Roboto" pitchFamily="34" charset="-120"/>
              </a:rPr>
              <a:t> With appropriate regularization techniques, SVMs can mitigate the risk of overfitting, ensuring better performance on unseen data.</a:t>
            </a:r>
            <a:endParaRPr lang="en-US" sz="1400" dirty="0"/>
          </a:p>
        </p:txBody>
      </p:sp>
      <p:sp>
        <p:nvSpPr>
          <p:cNvPr id="7" name="Text 5"/>
          <p:cNvSpPr/>
          <p:nvPr/>
        </p:nvSpPr>
        <p:spPr>
          <a:xfrm>
            <a:off x="721757" y="5567482"/>
            <a:ext cx="4101584" cy="270748"/>
          </a:xfrm>
          <a:prstGeom prst="rect">
            <a:avLst/>
          </a:prstGeom>
          <a:noFill/>
          <a:ln/>
        </p:spPr>
        <p:txBody>
          <a:bodyPr wrap="none" lIns="0" tIns="0" rIns="0" bIns="0" rtlCol="0" anchor="t"/>
          <a:lstStyle/>
          <a:p>
            <a:pPr algn="l" indent="0" marL="0">
              <a:lnSpc>
                <a:spcPts val="2100"/>
              </a:lnSpc>
              <a:buNone/>
            </a:pPr>
            <a:endParaRPr lang="en-US" sz="1400" dirty="0"/>
          </a:p>
        </p:txBody>
      </p:sp>
      <p:sp>
        <p:nvSpPr>
          <p:cNvPr id="8" name="Text 6"/>
          <p:cNvSpPr/>
          <p:nvPr/>
        </p:nvSpPr>
        <p:spPr>
          <a:xfrm>
            <a:off x="721757" y="6000631"/>
            <a:ext cx="4101584" cy="270748"/>
          </a:xfrm>
          <a:prstGeom prst="rect">
            <a:avLst/>
          </a:prstGeom>
          <a:noFill/>
          <a:ln/>
        </p:spPr>
        <p:txBody>
          <a:bodyPr wrap="none" lIns="0" tIns="0" rIns="0" bIns="0" rtlCol="0" anchor="t"/>
          <a:lstStyle/>
          <a:p>
            <a:pPr algn="l" indent="0" marL="0">
              <a:lnSpc>
                <a:spcPts val="2100"/>
              </a:lnSpc>
              <a:buNone/>
            </a:pPr>
            <a:endParaRPr lang="en-US" sz="1400" dirty="0"/>
          </a:p>
        </p:txBody>
      </p:sp>
      <p:sp>
        <p:nvSpPr>
          <p:cNvPr id="9" name="Text 7"/>
          <p:cNvSpPr/>
          <p:nvPr/>
        </p:nvSpPr>
        <p:spPr>
          <a:xfrm>
            <a:off x="721757" y="6433780"/>
            <a:ext cx="4101584" cy="270748"/>
          </a:xfrm>
          <a:prstGeom prst="rect">
            <a:avLst/>
          </a:prstGeom>
          <a:noFill/>
          <a:ln/>
        </p:spPr>
        <p:txBody>
          <a:bodyPr wrap="none" lIns="0" tIns="0" rIns="0" bIns="0" rtlCol="0" anchor="t"/>
          <a:lstStyle/>
          <a:p>
            <a:pPr algn="l" indent="0" marL="0">
              <a:lnSpc>
                <a:spcPts val="2100"/>
              </a:lnSpc>
              <a:buNone/>
            </a:pPr>
            <a:endParaRPr lang="en-US" sz="1400" dirty="0"/>
          </a:p>
        </p:txBody>
      </p:sp>
      <p:sp>
        <p:nvSpPr>
          <p:cNvPr id="10" name="Text 8"/>
          <p:cNvSpPr/>
          <p:nvPr/>
        </p:nvSpPr>
        <p:spPr>
          <a:xfrm>
            <a:off x="721757" y="6866930"/>
            <a:ext cx="4101584" cy="270748"/>
          </a:xfrm>
          <a:prstGeom prst="rect">
            <a:avLst/>
          </a:prstGeom>
          <a:noFill/>
          <a:ln/>
        </p:spPr>
        <p:txBody>
          <a:bodyPr wrap="none" lIns="0" tIns="0" rIns="0" bIns="0" rtlCol="0" anchor="t"/>
          <a:lstStyle/>
          <a:p>
            <a:pPr algn="l" indent="0" marL="0">
              <a:lnSpc>
                <a:spcPts val="2100"/>
              </a:lnSpc>
              <a:buNone/>
            </a:pPr>
            <a:endParaRPr lang="en-US" sz="1400" dirty="0"/>
          </a:p>
        </p:txBody>
      </p:sp>
      <p:sp>
        <p:nvSpPr>
          <p:cNvPr id="11" name="Text 9"/>
          <p:cNvSpPr/>
          <p:nvPr/>
        </p:nvSpPr>
        <p:spPr>
          <a:xfrm>
            <a:off x="721757" y="7300079"/>
            <a:ext cx="4101584" cy="270748"/>
          </a:xfrm>
          <a:prstGeom prst="rect">
            <a:avLst/>
          </a:prstGeom>
          <a:noFill/>
          <a:ln/>
        </p:spPr>
        <p:txBody>
          <a:bodyPr wrap="none" lIns="0" tIns="0" rIns="0" bIns="0" rtlCol="0" anchor="t"/>
          <a:lstStyle/>
          <a:p>
            <a:pPr algn="l" indent="0" marL="0">
              <a:lnSpc>
                <a:spcPts val="2100"/>
              </a:lnSpc>
              <a:buNone/>
            </a:pPr>
            <a:endParaRPr lang="en-US" sz="1400" dirty="0"/>
          </a:p>
        </p:txBody>
      </p:sp>
      <p:sp>
        <p:nvSpPr>
          <p:cNvPr id="12" name="Text 10"/>
          <p:cNvSpPr/>
          <p:nvPr/>
        </p:nvSpPr>
        <p:spPr>
          <a:xfrm>
            <a:off x="5271254" y="1493282"/>
            <a:ext cx="4101584" cy="270748"/>
          </a:xfrm>
          <a:prstGeom prst="rect">
            <a:avLst/>
          </a:prstGeom>
          <a:noFill/>
          <a:ln/>
        </p:spPr>
        <p:txBody>
          <a:bodyPr wrap="none" lIns="0" tIns="0" rIns="0" bIns="0" rtlCol="0" anchor="t"/>
          <a:lstStyle/>
          <a:p>
            <a:pPr algn="l" indent="0" marL="0">
              <a:lnSpc>
                <a:spcPts val="2100"/>
              </a:lnSpc>
              <a:buNone/>
            </a:pPr>
            <a:endParaRPr lang="en-US" sz="1400" dirty="0"/>
          </a:p>
        </p:txBody>
      </p:sp>
      <p:pic>
        <p:nvPicPr>
          <p:cNvPr id="13" name="Image 0" descr="preencoded.png">    </p:cNvPr>
          <p:cNvPicPr>
            <a:picLocks noChangeAspect="1"/>
          </p:cNvPicPr>
          <p:nvPr/>
        </p:nvPicPr>
        <p:blipFill>
          <a:blip r:embed="rId1"/>
          <a:stretch>
            <a:fillRect/>
          </a:stretch>
        </p:blipFill>
        <p:spPr>
          <a:xfrm>
            <a:off x="5271254" y="1967032"/>
            <a:ext cx="3654743" cy="1305878"/>
          </a:xfrm>
          <a:prstGeom prst="rect">
            <a:avLst/>
          </a:prstGeom>
        </p:spPr>
      </p:pic>
      <p:sp>
        <p:nvSpPr>
          <p:cNvPr id="14" name="Text 11"/>
          <p:cNvSpPr/>
          <p:nvPr/>
        </p:nvSpPr>
        <p:spPr>
          <a:xfrm>
            <a:off x="9820751" y="1511260"/>
            <a:ext cx="3033832" cy="338257"/>
          </a:xfrm>
          <a:prstGeom prst="rect">
            <a:avLst/>
          </a:prstGeom>
          <a:noFill/>
          <a:ln/>
        </p:spPr>
        <p:txBody>
          <a:bodyPr wrap="none" lIns="0" tIns="0" rIns="0" bIns="0" rtlCol="0" anchor="t"/>
          <a:lstStyle/>
          <a:p>
            <a:pPr algn="l" indent="0" marL="0">
              <a:lnSpc>
                <a:spcPts val="2650"/>
              </a:lnSpc>
              <a:buNone/>
            </a:pPr>
            <a:r>
              <a:rPr lang="en-US" sz="2100" dirty="0">
                <a:solidFill>
                  <a:srgbClr val="2E3C4E"/>
                </a:solidFill>
                <a:latin typeface="Host Grotesk Medium" pitchFamily="34" charset="0"/>
                <a:ea typeface="Host Grotesk Medium" pitchFamily="34" charset="-122"/>
                <a:cs typeface="Host Grotesk Medium" pitchFamily="34" charset="-120"/>
              </a:rPr>
              <a:t>Real-World Applications:</a:t>
            </a:r>
            <a:endParaRPr lang="en-US" sz="2100" dirty="0"/>
          </a:p>
        </p:txBody>
      </p:sp>
      <p:sp>
        <p:nvSpPr>
          <p:cNvPr id="15" name="Text 12"/>
          <p:cNvSpPr/>
          <p:nvPr/>
        </p:nvSpPr>
        <p:spPr>
          <a:xfrm>
            <a:off x="9820751" y="2029897"/>
            <a:ext cx="4101584" cy="812244"/>
          </a:xfrm>
          <a:prstGeom prst="rect">
            <a:avLst/>
          </a:prstGeom>
          <a:noFill/>
          <a:ln/>
        </p:spPr>
        <p:txBody>
          <a:bodyPr wrap="square" lIns="0" tIns="0" rIns="0" bIns="0" rtlCol="0" anchor="t"/>
          <a:lstStyle/>
          <a:p>
            <a:pPr algn="l" marL="342900" indent="-342900">
              <a:lnSpc>
                <a:spcPts val="2100"/>
              </a:lnSpc>
              <a:buSzPct val="100000"/>
              <a:buChar char="•"/>
            </a:pPr>
            <a:r>
              <a:rPr lang="en-US" sz="1400" dirty="0">
                <a:solidFill>
                  <a:srgbClr val="C3643D"/>
                </a:solidFill>
                <a:latin typeface="Roboto" pitchFamily="34" charset="0"/>
                <a:ea typeface="Roboto" pitchFamily="34" charset="-122"/>
                <a:cs typeface="Roboto" pitchFamily="34" charset="-120"/>
              </a:rPr>
              <a:t>Image Classification:</a:t>
            </a:r>
            <a:pPr algn="l" indent="0" marL="0">
              <a:lnSpc>
                <a:spcPts val="2100"/>
              </a:lnSpc>
              <a:buNone/>
            </a:pPr>
            <a:r>
              <a:rPr lang="en-US" sz="1400" dirty="0">
                <a:solidFill>
                  <a:srgbClr val="384653"/>
                </a:solidFill>
                <a:latin typeface="Roboto" pitchFamily="34" charset="0"/>
                <a:ea typeface="Roboto" pitchFamily="34" charset="-122"/>
                <a:cs typeface="Roboto" pitchFamily="34" charset="-120"/>
              </a:rPr>
              <a:t> Identifying objects or patterns within images, such as facial recognition.</a:t>
            </a:r>
            <a:endParaRPr lang="en-US" sz="1400" dirty="0"/>
          </a:p>
        </p:txBody>
      </p:sp>
      <p:sp>
        <p:nvSpPr>
          <p:cNvPr id="16" name="Text 13"/>
          <p:cNvSpPr/>
          <p:nvPr/>
        </p:nvSpPr>
        <p:spPr>
          <a:xfrm>
            <a:off x="9820751" y="2905244"/>
            <a:ext cx="4101584" cy="812244"/>
          </a:xfrm>
          <a:prstGeom prst="rect">
            <a:avLst/>
          </a:prstGeom>
          <a:noFill/>
          <a:ln/>
        </p:spPr>
        <p:txBody>
          <a:bodyPr wrap="square" lIns="0" tIns="0" rIns="0" bIns="0" rtlCol="0" anchor="t"/>
          <a:lstStyle/>
          <a:p>
            <a:pPr algn="l" marL="342900" indent="-342900">
              <a:lnSpc>
                <a:spcPts val="2100"/>
              </a:lnSpc>
              <a:buSzPct val="100000"/>
              <a:buChar char="•"/>
            </a:pPr>
            <a:r>
              <a:rPr lang="en-US" sz="1400" dirty="0">
                <a:solidFill>
                  <a:srgbClr val="C3643D"/>
                </a:solidFill>
                <a:latin typeface="Roboto" pitchFamily="34" charset="0"/>
                <a:ea typeface="Roboto" pitchFamily="34" charset="-122"/>
                <a:cs typeface="Roboto" pitchFamily="34" charset="-120"/>
              </a:rPr>
              <a:t>Spam Detection:</a:t>
            </a:r>
            <a:pPr algn="l" indent="0" marL="0">
              <a:lnSpc>
                <a:spcPts val="2100"/>
              </a:lnSpc>
              <a:buNone/>
            </a:pPr>
            <a:r>
              <a:rPr lang="en-US" sz="1400" dirty="0">
                <a:solidFill>
                  <a:srgbClr val="384653"/>
                </a:solidFill>
                <a:latin typeface="Roboto" pitchFamily="34" charset="0"/>
                <a:ea typeface="Roboto" pitchFamily="34" charset="-122"/>
                <a:cs typeface="Roboto" pitchFamily="34" charset="-120"/>
              </a:rPr>
              <a:t> Classifying emails as legitimate or spam based on their content and features.</a:t>
            </a:r>
            <a:endParaRPr lang="en-US" sz="1400" dirty="0"/>
          </a:p>
        </p:txBody>
      </p:sp>
      <p:sp>
        <p:nvSpPr>
          <p:cNvPr id="17" name="Text 14"/>
          <p:cNvSpPr/>
          <p:nvPr/>
        </p:nvSpPr>
        <p:spPr>
          <a:xfrm>
            <a:off x="9820751" y="3780592"/>
            <a:ext cx="4101584" cy="541496"/>
          </a:xfrm>
          <a:prstGeom prst="rect">
            <a:avLst/>
          </a:prstGeom>
          <a:noFill/>
          <a:ln/>
        </p:spPr>
        <p:txBody>
          <a:bodyPr wrap="square" lIns="0" tIns="0" rIns="0" bIns="0" rtlCol="0" anchor="t"/>
          <a:lstStyle/>
          <a:p>
            <a:pPr algn="l" marL="342900" indent="-342900">
              <a:lnSpc>
                <a:spcPts val="2100"/>
              </a:lnSpc>
              <a:buSzPct val="100000"/>
              <a:buChar char="•"/>
            </a:pPr>
            <a:r>
              <a:rPr lang="en-US" sz="1400" dirty="0">
                <a:solidFill>
                  <a:srgbClr val="C3643D"/>
                </a:solidFill>
                <a:latin typeface="Roboto" pitchFamily="34" charset="0"/>
                <a:ea typeface="Roboto" pitchFamily="34" charset="-122"/>
                <a:cs typeface="Roboto" pitchFamily="34" charset="-120"/>
              </a:rPr>
              <a:t>Bioinformatics:</a:t>
            </a:r>
            <a:pPr algn="l" indent="0" marL="0">
              <a:lnSpc>
                <a:spcPts val="2100"/>
              </a:lnSpc>
              <a:buNone/>
            </a:pPr>
            <a:r>
              <a:rPr lang="en-US" sz="1400" dirty="0">
                <a:solidFill>
                  <a:srgbClr val="384653"/>
                </a:solidFill>
                <a:latin typeface="Roboto" pitchFamily="34" charset="0"/>
                <a:ea typeface="Roboto" pitchFamily="34" charset="-122"/>
                <a:cs typeface="Roboto" pitchFamily="34" charset="-120"/>
              </a:rPr>
              <a:t> Used for tasks like gene classification and protein structure prediction.</a:t>
            </a:r>
            <a:endParaRPr lang="en-US" sz="1400" dirty="0"/>
          </a:p>
        </p:txBody>
      </p:sp>
      <p:sp>
        <p:nvSpPr>
          <p:cNvPr id="18" name="Text 15"/>
          <p:cNvSpPr/>
          <p:nvPr/>
        </p:nvSpPr>
        <p:spPr>
          <a:xfrm>
            <a:off x="9820751" y="4385191"/>
            <a:ext cx="4101584" cy="812244"/>
          </a:xfrm>
          <a:prstGeom prst="rect">
            <a:avLst/>
          </a:prstGeom>
          <a:noFill/>
          <a:ln/>
        </p:spPr>
        <p:txBody>
          <a:bodyPr wrap="square" lIns="0" tIns="0" rIns="0" bIns="0" rtlCol="0" anchor="t"/>
          <a:lstStyle/>
          <a:p>
            <a:pPr algn="l" marL="342900" indent="-342900">
              <a:lnSpc>
                <a:spcPts val="2100"/>
              </a:lnSpc>
              <a:buSzPct val="100000"/>
              <a:buChar char="•"/>
            </a:pPr>
            <a:r>
              <a:rPr lang="en-US" sz="1400" dirty="0">
                <a:solidFill>
                  <a:srgbClr val="C3643D"/>
                </a:solidFill>
                <a:latin typeface="Roboto" pitchFamily="34" charset="0"/>
                <a:ea typeface="Roboto" pitchFamily="34" charset="-122"/>
                <a:cs typeface="Roboto" pitchFamily="34" charset="-120"/>
              </a:rPr>
              <a:t>Text Categorization:</a:t>
            </a:r>
            <a:pPr algn="l" indent="0" marL="0">
              <a:lnSpc>
                <a:spcPts val="2100"/>
              </a:lnSpc>
              <a:buNone/>
            </a:pPr>
            <a:r>
              <a:rPr lang="en-US" sz="1400" dirty="0">
                <a:solidFill>
                  <a:srgbClr val="384653"/>
                </a:solidFill>
                <a:latin typeface="Roboto" pitchFamily="34" charset="0"/>
                <a:ea typeface="Roboto" pitchFamily="34" charset="-122"/>
                <a:cs typeface="Roboto" pitchFamily="34" charset="-120"/>
              </a:rPr>
              <a:t> Sorting documents or articles into predefined categories based on their textual content.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567095"/>
            <a:ext cx="9174599" cy="620078"/>
          </a:xfrm>
          <a:prstGeom prst="rect">
            <a:avLst/>
          </a:prstGeom>
          <a:noFill/>
          <a:ln/>
        </p:spPr>
        <p:txBody>
          <a:bodyPr wrap="none" lIns="0" tIns="0" rIns="0" bIns="0" rtlCol="0" anchor="t"/>
          <a:lstStyle/>
          <a:p>
            <a:pPr algn="l" indent="0" marL="0">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Exploring SVM Types &amp; Kernel Functions</a:t>
            </a:r>
            <a:endParaRPr lang="en-US" sz="3900" dirty="0"/>
          </a:p>
        </p:txBody>
      </p:sp>
      <p:sp>
        <p:nvSpPr>
          <p:cNvPr id="3" name="Shape 1"/>
          <p:cNvSpPr/>
          <p:nvPr/>
        </p:nvSpPr>
        <p:spPr>
          <a:xfrm>
            <a:off x="793790" y="1881664"/>
            <a:ext cx="6422231" cy="2039541"/>
          </a:xfrm>
          <a:prstGeom prst="roundRect">
            <a:avLst>
              <a:gd name="adj" fmla="val 5380"/>
            </a:avLst>
          </a:prstGeom>
          <a:solidFill>
            <a:srgbClr val="FAF9F5"/>
          </a:solidFill>
          <a:ln/>
        </p:spPr>
      </p:sp>
      <p:pic>
        <p:nvPicPr>
          <p:cNvPr id="4" name="Image 0" descr="preencoded.png">    </p:cNvPr>
          <p:cNvPicPr>
            <a:picLocks noChangeAspect="1"/>
          </p:cNvPicPr>
          <p:nvPr/>
        </p:nvPicPr>
        <p:blipFill>
          <a:blip r:embed="rId1"/>
          <a:stretch>
            <a:fillRect/>
          </a:stretch>
        </p:blipFill>
        <p:spPr>
          <a:xfrm>
            <a:off x="793790" y="1858804"/>
            <a:ext cx="6422231" cy="91440"/>
          </a:xfrm>
          <a:prstGeom prst="rect">
            <a:avLst/>
          </a:prstGeom>
        </p:spPr>
      </p:pic>
      <p:pic>
        <p:nvPicPr>
          <p:cNvPr id="5" name="Image 1" descr="preencoded.png">    </p:cNvPr>
          <p:cNvPicPr>
            <a:picLocks noChangeAspect="1"/>
          </p:cNvPicPr>
          <p:nvPr/>
        </p:nvPicPr>
        <p:blipFill>
          <a:blip r:embed="rId2"/>
          <a:stretch>
            <a:fillRect/>
          </a:stretch>
        </p:blipFill>
        <p:spPr>
          <a:xfrm>
            <a:off x="3707249" y="1584008"/>
            <a:ext cx="595313" cy="595313"/>
          </a:xfrm>
          <a:prstGeom prst="rect">
            <a:avLst/>
          </a:prstGeom>
        </p:spPr>
      </p:pic>
      <p:sp>
        <p:nvSpPr>
          <p:cNvPr id="6" name="Text 2"/>
          <p:cNvSpPr/>
          <p:nvPr/>
        </p:nvSpPr>
        <p:spPr>
          <a:xfrm>
            <a:off x="3885843" y="1732836"/>
            <a:ext cx="238125" cy="297656"/>
          </a:xfrm>
          <a:prstGeom prst="rect">
            <a:avLst/>
          </a:prstGeom>
          <a:noFill/>
          <a:ln/>
        </p:spPr>
        <p:txBody>
          <a:bodyPr wrap="none" lIns="0" tIns="0" rIns="0" bIns="0" rtlCol="0" anchor="t"/>
          <a:lstStyle/>
          <a:p>
            <a:pPr algn="l" indent="0" marL="0">
              <a:lnSpc>
                <a:spcPts val="2800"/>
              </a:lnSpc>
              <a:buNone/>
            </a:pPr>
            <a:r>
              <a:rPr lang="en-US" sz="1850" dirty="0">
                <a:solidFill>
                  <a:srgbClr val="000000"/>
                </a:solidFill>
                <a:latin typeface="Host Grotesk Medium" pitchFamily="34" charset="0"/>
                <a:ea typeface="Host Grotesk Medium" pitchFamily="34" charset="-122"/>
                <a:cs typeface="Host Grotesk Medium" pitchFamily="34" charset="-120"/>
              </a:rPr>
              <a:t>1</a:t>
            </a:r>
            <a:endParaRPr lang="en-US" sz="1850" dirty="0"/>
          </a:p>
        </p:txBody>
      </p:sp>
      <p:sp>
        <p:nvSpPr>
          <p:cNvPr id="7" name="Text 3"/>
          <p:cNvSpPr/>
          <p:nvPr/>
        </p:nvSpPr>
        <p:spPr>
          <a:xfrm>
            <a:off x="1015008" y="237779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Linear SVM</a:t>
            </a:r>
            <a:endParaRPr lang="en-US" sz="1950" dirty="0"/>
          </a:p>
        </p:txBody>
      </p:sp>
      <p:sp>
        <p:nvSpPr>
          <p:cNvPr id="8" name="Text 4"/>
          <p:cNvSpPr/>
          <p:nvPr/>
        </p:nvSpPr>
        <p:spPr>
          <a:xfrm>
            <a:off x="1015008" y="2807018"/>
            <a:ext cx="5979795" cy="892969"/>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Applicable when data points can be separated by a single straight line (or hyperplane) in their original feature space. It seeks to find this linear decision boundary.</a:t>
            </a:r>
            <a:endParaRPr lang="en-US" sz="1550" dirty="0"/>
          </a:p>
        </p:txBody>
      </p:sp>
      <p:sp>
        <p:nvSpPr>
          <p:cNvPr id="9" name="Shape 5"/>
          <p:cNvSpPr/>
          <p:nvPr/>
        </p:nvSpPr>
        <p:spPr>
          <a:xfrm>
            <a:off x="7414379" y="1881664"/>
            <a:ext cx="6422231" cy="2039541"/>
          </a:xfrm>
          <a:prstGeom prst="roundRect">
            <a:avLst>
              <a:gd name="adj" fmla="val 5380"/>
            </a:avLst>
          </a:prstGeom>
          <a:solidFill>
            <a:srgbClr val="FAF9F5"/>
          </a:solidFill>
          <a:ln/>
        </p:spPr>
      </p:sp>
      <p:pic>
        <p:nvPicPr>
          <p:cNvPr id="10" name="Image 2" descr="preencoded.png">    </p:cNvPr>
          <p:cNvPicPr>
            <a:picLocks noChangeAspect="1"/>
          </p:cNvPicPr>
          <p:nvPr/>
        </p:nvPicPr>
        <p:blipFill>
          <a:blip r:embed="rId3"/>
          <a:stretch>
            <a:fillRect/>
          </a:stretch>
        </p:blipFill>
        <p:spPr>
          <a:xfrm>
            <a:off x="7414379" y="1858804"/>
            <a:ext cx="6422231" cy="91440"/>
          </a:xfrm>
          <a:prstGeom prst="rect">
            <a:avLst/>
          </a:prstGeom>
        </p:spPr>
      </p:pic>
      <p:pic>
        <p:nvPicPr>
          <p:cNvPr id="11" name="Image 3" descr="preencoded.png">    </p:cNvPr>
          <p:cNvPicPr>
            <a:picLocks noChangeAspect="1"/>
          </p:cNvPicPr>
          <p:nvPr/>
        </p:nvPicPr>
        <p:blipFill>
          <a:blip r:embed="rId4"/>
          <a:stretch>
            <a:fillRect/>
          </a:stretch>
        </p:blipFill>
        <p:spPr>
          <a:xfrm>
            <a:off x="10327838" y="1584008"/>
            <a:ext cx="595313" cy="595313"/>
          </a:xfrm>
          <a:prstGeom prst="rect">
            <a:avLst/>
          </a:prstGeom>
        </p:spPr>
      </p:pic>
      <p:sp>
        <p:nvSpPr>
          <p:cNvPr id="12" name="Text 6"/>
          <p:cNvSpPr/>
          <p:nvPr/>
        </p:nvSpPr>
        <p:spPr>
          <a:xfrm>
            <a:off x="10506432" y="1732836"/>
            <a:ext cx="238125" cy="297656"/>
          </a:xfrm>
          <a:prstGeom prst="rect">
            <a:avLst/>
          </a:prstGeom>
          <a:noFill/>
          <a:ln/>
        </p:spPr>
        <p:txBody>
          <a:bodyPr wrap="none" lIns="0" tIns="0" rIns="0" bIns="0" rtlCol="0" anchor="t"/>
          <a:lstStyle/>
          <a:p>
            <a:pPr algn="l" indent="0" marL="0">
              <a:lnSpc>
                <a:spcPts val="2800"/>
              </a:lnSpc>
              <a:buNone/>
            </a:pPr>
            <a:r>
              <a:rPr lang="en-US" sz="1850" dirty="0">
                <a:solidFill>
                  <a:srgbClr val="000000"/>
                </a:solidFill>
                <a:latin typeface="Host Grotesk Medium" pitchFamily="34" charset="0"/>
                <a:ea typeface="Host Grotesk Medium" pitchFamily="34" charset="-122"/>
                <a:cs typeface="Host Grotesk Medium" pitchFamily="34" charset="-120"/>
              </a:rPr>
              <a:t>2</a:t>
            </a:r>
            <a:endParaRPr lang="en-US" sz="1850" dirty="0"/>
          </a:p>
        </p:txBody>
      </p:sp>
      <p:sp>
        <p:nvSpPr>
          <p:cNvPr id="13" name="Text 7"/>
          <p:cNvSpPr/>
          <p:nvPr/>
        </p:nvSpPr>
        <p:spPr>
          <a:xfrm>
            <a:off x="7635597" y="237779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Non-linear SVM</a:t>
            </a:r>
            <a:endParaRPr lang="en-US" sz="1950" dirty="0"/>
          </a:p>
        </p:txBody>
      </p:sp>
      <p:sp>
        <p:nvSpPr>
          <p:cNvPr id="14" name="Text 8"/>
          <p:cNvSpPr/>
          <p:nvPr/>
        </p:nvSpPr>
        <p:spPr>
          <a:xfrm>
            <a:off x="7635597" y="2807018"/>
            <a:ext cx="5979795" cy="892969"/>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When data is not linearly separable, non-linear SVMs employ kernel functions to transform the data into a higher-dimensional space where a linear separation becomes possible.</a:t>
            </a:r>
            <a:endParaRPr lang="en-US" sz="1550" dirty="0"/>
          </a:p>
        </p:txBody>
      </p:sp>
      <p:sp>
        <p:nvSpPr>
          <p:cNvPr id="15" name="Text 9"/>
          <p:cNvSpPr/>
          <p:nvPr/>
        </p:nvSpPr>
        <p:spPr>
          <a:xfrm>
            <a:off x="793790" y="4144447"/>
            <a:ext cx="13042821" cy="595313"/>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Kernel functions are crucial for non-linear SVMs, allowing them to model complex relationships between data points without explicitly calculating the coordinates in the higher-dimensional space—a technique known as the "kernel trick."</a:t>
            </a:r>
            <a:endParaRPr lang="en-US" sz="1550" dirty="0"/>
          </a:p>
        </p:txBody>
      </p:sp>
      <p:pic>
        <p:nvPicPr>
          <p:cNvPr id="16" name="Image 4" descr="preencoded.png">    </p:cNvPr>
          <p:cNvPicPr>
            <a:picLocks noChangeAspect="1"/>
          </p:cNvPicPr>
          <p:nvPr/>
        </p:nvPicPr>
        <p:blipFill>
          <a:blip r:embed="rId5"/>
          <a:stretch>
            <a:fillRect/>
          </a:stretch>
        </p:blipFill>
        <p:spPr>
          <a:xfrm>
            <a:off x="4880491" y="5091708"/>
            <a:ext cx="4869299" cy="238160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24733" y="632341"/>
            <a:ext cx="6272927" cy="566261"/>
          </a:xfrm>
          <a:prstGeom prst="rect">
            <a:avLst/>
          </a:prstGeom>
          <a:noFill/>
          <a:ln/>
        </p:spPr>
        <p:txBody>
          <a:bodyPr wrap="none" lIns="0" tIns="0" rIns="0" bIns="0" rtlCol="0" anchor="t"/>
          <a:lstStyle/>
          <a:p>
            <a:pPr algn="l" indent="0" marL="0">
              <a:lnSpc>
                <a:spcPts val="4450"/>
              </a:lnSpc>
              <a:buNone/>
            </a:pPr>
            <a:r>
              <a:rPr lang="en-US" sz="3550" dirty="0">
                <a:solidFill>
                  <a:srgbClr val="2E3C4E"/>
                </a:solidFill>
                <a:latin typeface="Host Grotesk Medium" pitchFamily="34" charset="0"/>
                <a:ea typeface="Host Grotesk Medium" pitchFamily="34" charset="-122"/>
                <a:cs typeface="Host Grotesk Medium" pitchFamily="34" charset="-120"/>
              </a:rPr>
              <a:t>The Power of Kernel Functions</a:t>
            </a:r>
            <a:endParaRPr lang="en-US" sz="3550" dirty="0"/>
          </a:p>
        </p:txBody>
      </p:sp>
      <p:sp>
        <p:nvSpPr>
          <p:cNvPr id="3" name="Shape 1"/>
          <p:cNvSpPr/>
          <p:nvPr/>
        </p:nvSpPr>
        <p:spPr>
          <a:xfrm>
            <a:off x="724733" y="1560909"/>
            <a:ext cx="6499860" cy="2417921"/>
          </a:xfrm>
          <a:prstGeom prst="roundRect">
            <a:avLst>
              <a:gd name="adj" fmla="val 3147"/>
            </a:avLst>
          </a:prstGeom>
          <a:solidFill>
            <a:srgbClr val="D9EDF2"/>
          </a:solidFill>
          <a:ln w="7620">
            <a:solidFill>
              <a:srgbClr val="BFD3D8"/>
            </a:solidFill>
            <a:prstDash val="solid"/>
          </a:ln>
        </p:spPr>
      </p:sp>
      <p:pic>
        <p:nvPicPr>
          <p:cNvPr id="4" name="Image 0" descr="preencoded.png">    </p:cNvPr>
          <p:cNvPicPr>
            <a:picLocks noChangeAspect="1"/>
          </p:cNvPicPr>
          <p:nvPr/>
        </p:nvPicPr>
        <p:blipFill>
          <a:blip r:embed="rId1"/>
          <a:stretch>
            <a:fillRect/>
          </a:stretch>
        </p:blipFill>
        <p:spPr>
          <a:xfrm>
            <a:off x="913448" y="1749623"/>
            <a:ext cx="543520" cy="543520"/>
          </a:xfrm>
          <a:prstGeom prst="rect">
            <a:avLst/>
          </a:prstGeom>
        </p:spPr>
      </p:pic>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2871" y="1899047"/>
            <a:ext cx="244554" cy="244554"/>
          </a:xfrm>
          <a:prstGeom prst="rect">
            <a:avLst/>
          </a:prstGeom>
        </p:spPr>
      </p:pic>
      <p:sp>
        <p:nvSpPr>
          <p:cNvPr id="6" name="Text 2"/>
          <p:cNvSpPr/>
          <p:nvPr/>
        </p:nvSpPr>
        <p:spPr>
          <a:xfrm>
            <a:off x="913448" y="2474238"/>
            <a:ext cx="2264807" cy="283012"/>
          </a:xfrm>
          <a:prstGeom prst="rect">
            <a:avLst/>
          </a:prstGeom>
          <a:noFill/>
          <a:ln/>
        </p:spPr>
        <p:txBody>
          <a:bodyPr wrap="none" lIns="0" tIns="0" rIns="0" bIns="0" rtlCol="0" anchor="t"/>
          <a:lstStyle/>
          <a:p>
            <a:pPr algn="l" indent="0" marL="0">
              <a:lnSpc>
                <a:spcPts val="2200"/>
              </a:lnSpc>
              <a:buNone/>
            </a:pPr>
            <a:r>
              <a:rPr lang="en-US" sz="1750" dirty="0">
                <a:solidFill>
                  <a:srgbClr val="384653"/>
                </a:solidFill>
                <a:latin typeface="Host Grotesk Medium" pitchFamily="34" charset="0"/>
                <a:ea typeface="Host Grotesk Medium" pitchFamily="34" charset="-122"/>
                <a:cs typeface="Host Grotesk Medium" pitchFamily="34" charset="-120"/>
              </a:rPr>
              <a:t>Linear Kernel</a:t>
            </a:r>
            <a:endParaRPr lang="en-US" sz="1750" dirty="0"/>
          </a:p>
        </p:txBody>
      </p:sp>
      <p:sp>
        <p:nvSpPr>
          <p:cNvPr id="7" name="Text 3"/>
          <p:cNvSpPr/>
          <p:nvPr/>
        </p:nvSpPr>
        <p:spPr>
          <a:xfrm>
            <a:off x="913448" y="2865953"/>
            <a:ext cx="6122432" cy="271820"/>
          </a:xfrm>
          <a:prstGeom prst="rect">
            <a:avLst/>
          </a:prstGeom>
          <a:noFill/>
          <a:ln/>
        </p:spPr>
        <p:txBody>
          <a:bodyPr wrap="none" lIns="0" tIns="0" rIns="0" bIns="0" rtlCol="0" anchor="t"/>
          <a:lstStyle/>
          <a:p>
            <a:pPr algn="l" indent="0" marL="0">
              <a:lnSpc>
                <a:spcPts val="2100"/>
              </a:lnSpc>
              <a:buNone/>
            </a:pPr>
            <a:endParaRPr lang="en-US" sz="1400" dirty="0"/>
          </a:p>
        </p:txBody>
      </p:sp>
      <p:sp>
        <p:nvSpPr>
          <p:cNvPr id="8" name="Text 4"/>
          <p:cNvSpPr/>
          <p:nvPr/>
        </p:nvSpPr>
        <p:spPr>
          <a:xfrm>
            <a:off x="913448" y="3246477"/>
            <a:ext cx="6122432" cy="543639"/>
          </a:xfrm>
          <a:prstGeom prst="rect">
            <a:avLst/>
          </a:prstGeom>
          <a:noFill/>
          <a:ln/>
        </p:spPr>
        <p:txBody>
          <a:bodyPr wrap="square" lIns="0" tIns="0" rIns="0" bIns="0" rtlCol="0" anchor="t"/>
          <a:lstStyle/>
          <a:p>
            <a:pPr algn="l" indent="0" marL="0">
              <a:lnSpc>
                <a:spcPts val="2100"/>
              </a:lnSpc>
              <a:buNone/>
            </a:pPr>
            <a:r>
              <a:rPr lang="en-US" sz="1400" dirty="0">
                <a:solidFill>
                  <a:srgbClr val="384653"/>
                </a:solidFill>
                <a:latin typeface="Roboto" pitchFamily="34" charset="0"/>
                <a:ea typeface="Roboto" pitchFamily="34" charset="-122"/>
                <a:cs typeface="Roboto" pitchFamily="34" charset="-120"/>
              </a:rPr>
              <a:t>Ideal for datasets that are inherently linearly separable, where a straight line or plane suffices to distinguish classes.</a:t>
            </a:r>
            <a:endParaRPr lang="en-US" sz="1400" dirty="0"/>
          </a:p>
        </p:txBody>
      </p:sp>
      <p:sp>
        <p:nvSpPr>
          <p:cNvPr id="9" name="Shape 5"/>
          <p:cNvSpPr/>
          <p:nvPr/>
        </p:nvSpPr>
        <p:spPr>
          <a:xfrm>
            <a:off x="7405688" y="1560909"/>
            <a:ext cx="6499979" cy="2417921"/>
          </a:xfrm>
          <a:prstGeom prst="roundRect">
            <a:avLst>
              <a:gd name="adj" fmla="val 3147"/>
            </a:avLst>
          </a:prstGeom>
          <a:solidFill>
            <a:srgbClr val="D9EDF2"/>
          </a:solidFill>
          <a:ln w="7620">
            <a:solidFill>
              <a:srgbClr val="BFD3D8"/>
            </a:solidFill>
            <a:prstDash val="solid"/>
          </a:ln>
        </p:spPr>
      </p:sp>
      <p:pic>
        <p:nvPicPr>
          <p:cNvPr id="10" name="Image 2" descr="preencoded.png">    </p:cNvPr>
          <p:cNvPicPr>
            <a:picLocks noChangeAspect="1"/>
          </p:cNvPicPr>
          <p:nvPr/>
        </p:nvPicPr>
        <p:blipFill>
          <a:blip r:embed="rId4"/>
          <a:stretch>
            <a:fillRect/>
          </a:stretch>
        </p:blipFill>
        <p:spPr>
          <a:xfrm>
            <a:off x="7594402" y="1749623"/>
            <a:ext cx="543520" cy="543520"/>
          </a:xfrm>
          <a:prstGeom prst="rect">
            <a:avLst/>
          </a:prstGeom>
        </p:spPr>
      </p:pic>
      <p:pic>
        <p:nvPicPr>
          <p:cNvPr id="11"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43825" y="1899047"/>
            <a:ext cx="244554" cy="244554"/>
          </a:xfrm>
          <a:prstGeom prst="rect">
            <a:avLst/>
          </a:prstGeom>
        </p:spPr>
      </p:pic>
      <p:sp>
        <p:nvSpPr>
          <p:cNvPr id="12" name="Text 6"/>
          <p:cNvSpPr/>
          <p:nvPr/>
        </p:nvSpPr>
        <p:spPr>
          <a:xfrm>
            <a:off x="7594402" y="2474238"/>
            <a:ext cx="2264807" cy="283012"/>
          </a:xfrm>
          <a:prstGeom prst="rect">
            <a:avLst/>
          </a:prstGeom>
          <a:noFill/>
          <a:ln/>
        </p:spPr>
        <p:txBody>
          <a:bodyPr wrap="none" lIns="0" tIns="0" rIns="0" bIns="0" rtlCol="0" anchor="t"/>
          <a:lstStyle/>
          <a:p>
            <a:pPr algn="l" indent="0" marL="0">
              <a:lnSpc>
                <a:spcPts val="2200"/>
              </a:lnSpc>
              <a:buNone/>
            </a:pPr>
            <a:r>
              <a:rPr lang="en-US" sz="1750" dirty="0">
                <a:solidFill>
                  <a:srgbClr val="384653"/>
                </a:solidFill>
                <a:latin typeface="Host Grotesk Medium" pitchFamily="34" charset="0"/>
                <a:ea typeface="Host Grotesk Medium" pitchFamily="34" charset="-122"/>
                <a:cs typeface="Host Grotesk Medium" pitchFamily="34" charset="-120"/>
              </a:rPr>
              <a:t>Polynomial Kernel</a:t>
            </a:r>
            <a:endParaRPr lang="en-US" sz="1750" dirty="0"/>
          </a:p>
        </p:txBody>
      </p:sp>
      <p:sp>
        <p:nvSpPr>
          <p:cNvPr id="13" name="Text 7"/>
          <p:cNvSpPr/>
          <p:nvPr/>
        </p:nvSpPr>
        <p:spPr>
          <a:xfrm>
            <a:off x="7594402" y="2865953"/>
            <a:ext cx="6122551" cy="271820"/>
          </a:xfrm>
          <a:prstGeom prst="rect">
            <a:avLst/>
          </a:prstGeom>
          <a:noFill/>
          <a:ln/>
        </p:spPr>
        <p:txBody>
          <a:bodyPr wrap="none" lIns="0" tIns="0" rIns="0" bIns="0" rtlCol="0" anchor="t"/>
          <a:lstStyle/>
          <a:p>
            <a:pPr algn="l" indent="0" marL="0">
              <a:lnSpc>
                <a:spcPts val="2100"/>
              </a:lnSpc>
              <a:buNone/>
            </a:pPr>
            <a:endParaRPr lang="en-US" sz="1400" dirty="0"/>
          </a:p>
        </p:txBody>
      </p:sp>
      <p:sp>
        <p:nvSpPr>
          <p:cNvPr id="14" name="Text 8"/>
          <p:cNvSpPr/>
          <p:nvPr/>
        </p:nvSpPr>
        <p:spPr>
          <a:xfrm>
            <a:off x="7594402" y="3246477"/>
            <a:ext cx="6122551" cy="543639"/>
          </a:xfrm>
          <a:prstGeom prst="rect">
            <a:avLst/>
          </a:prstGeom>
          <a:noFill/>
          <a:ln/>
        </p:spPr>
        <p:txBody>
          <a:bodyPr wrap="square" lIns="0" tIns="0" rIns="0" bIns="0" rtlCol="0" anchor="t"/>
          <a:lstStyle/>
          <a:p>
            <a:pPr algn="l" indent="0" marL="0">
              <a:lnSpc>
                <a:spcPts val="2100"/>
              </a:lnSpc>
              <a:buNone/>
            </a:pPr>
            <a:r>
              <a:rPr lang="en-US" sz="1400" dirty="0">
                <a:solidFill>
                  <a:srgbClr val="384653"/>
                </a:solidFill>
                <a:latin typeface="Roboto" pitchFamily="34" charset="0"/>
                <a:ea typeface="Roboto" pitchFamily="34" charset="-122"/>
                <a:cs typeface="Roboto" pitchFamily="34" charset="-120"/>
              </a:rPr>
              <a:t>Suitable for capturing curved decision boundaries, allowing for more flexible separation of classes based on polynomial combinations of features.</a:t>
            </a:r>
            <a:endParaRPr lang="en-US" sz="1400" dirty="0"/>
          </a:p>
        </p:txBody>
      </p:sp>
      <p:sp>
        <p:nvSpPr>
          <p:cNvPr id="15" name="Shape 9"/>
          <p:cNvSpPr/>
          <p:nvPr/>
        </p:nvSpPr>
        <p:spPr>
          <a:xfrm>
            <a:off x="724733" y="4159925"/>
            <a:ext cx="6499860" cy="2689741"/>
          </a:xfrm>
          <a:prstGeom prst="roundRect">
            <a:avLst>
              <a:gd name="adj" fmla="val 2829"/>
            </a:avLst>
          </a:prstGeom>
          <a:solidFill>
            <a:srgbClr val="D9EDF2"/>
          </a:solidFill>
          <a:ln w="7620">
            <a:solidFill>
              <a:srgbClr val="BFD3D8"/>
            </a:solidFill>
            <a:prstDash val="solid"/>
          </a:ln>
        </p:spPr>
      </p:sp>
      <p:pic>
        <p:nvPicPr>
          <p:cNvPr id="16" name="Image 4" descr="preencoded.png">    </p:cNvPr>
          <p:cNvPicPr>
            <a:picLocks noChangeAspect="1"/>
          </p:cNvPicPr>
          <p:nvPr/>
        </p:nvPicPr>
        <p:blipFill>
          <a:blip r:embed="rId7"/>
          <a:stretch>
            <a:fillRect/>
          </a:stretch>
        </p:blipFill>
        <p:spPr>
          <a:xfrm>
            <a:off x="913448" y="4348639"/>
            <a:ext cx="543520" cy="543520"/>
          </a:xfrm>
          <a:prstGeom prst="rect">
            <a:avLst/>
          </a:prstGeom>
        </p:spPr>
      </p:pic>
      <p:pic>
        <p:nvPicPr>
          <p:cNvPr id="17"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62871" y="4498062"/>
            <a:ext cx="244554" cy="244554"/>
          </a:xfrm>
          <a:prstGeom prst="rect">
            <a:avLst/>
          </a:prstGeom>
        </p:spPr>
      </p:pic>
      <p:sp>
        <p:nvSpPr>
          <p:cNvPr id="18" name="Text 10"/>
          <p:cNvSpPr/>
          <p:nvPr/>
        </p:nvSpPr>
        <p:spPr>
          <a:xfrm>
            <a:off x="913448" y="5073253"/>
            <a:ext cx="2289929" cy="283012"/>
          </a:xfrm>
          <a:prstGeom prst="rect">
            <a:avLst/>
          </a:prstGeom>
          <a:noFill/>
          <a:ln/>
        </p:spPr>
        <p:txBody>
          <a:bodyPr wrap="none" lIns="0" tIns="0" rIns="0" bIns="0" rtlCol="0" anchor="t"/>
          <a:lstStyle/>
          <a:p>
            <a:pPr algn="l" indent="0" marL="0">
              <a:lnSpc>
                <a:spcPts val="2200"/>
              </a:lnSpc>
              <a:buNone/>
            </a:pPr>
            <a:r>
              <a:rPr lang="en-US" sz="1750" dirty="0">
                <a:solidFill>
                  <a:srgbClr val="384653"/>
                </a:solidFill>
                <a:latin typeface="Host Grotesk Medium" pitchFamily="34" charset="0"/>
                <a:ea typeface="Host Grotesk Medium" pitchFamily="34" charset="-122"/>
                <a:cs typeface="Host Grotesk Medium" pitchFamily="34" charset="-120"/>
              </a:rPr>
              <a:t>RBF (Gaussian) Kernel</a:t>
            </a:r>
            <a:endParaRPr lang="en-US" sz="1750" dirty="0"/>
          </a:p>
        </p:txBody>
      </p:sp>
      <p:sp>
        <p:nvSpPr>
          <p:cNvPr id="19" name="Text 11"/>
          <p:cNvSpPr/>
          <p:nvPr/>
        </p:nvSpPr>
        <p:spPr>
          <a:xfrm>
            <a:off x="913448" y="5464969"/>
            <a:ext cx="6122432" cy="271820"/>
          </a:xfrm>
          <a:prstGeom prst="rect">
            <a:avLst/>
          </a:prstGeom>
          <a:noFill/>
          <a:ln/>
        </p:spPr>
        <p:txBody>
          <a:bodyPr wrap="none" lIns="0" tIns="0" rIns="0" bIns="0" rtlCol="0" anchor="t"/>
          <a:lstStyle/>
          <a:p>
            <a:pPr algn="l" indent="0" marL="0">
              <a:lnSpc>
                <a:spcPts val="2100"/>
              </a:lnSpc>
              <a:buNone/>
            </a:pPr>
            <a:endParaRPr lang="en-US" sz="1400" dirty="0"/>
          </a:p>
        </p:txBody>
      </p:sp>
      <p:sp>
        <p:nvSpPr>
          <p:cNvPr id="20" name="Text 12"/>
          <p:cNvSpPr/>
          <p:nvPr/>
        </p:nvSpPr>
        <p:spPr>
          <a:xfrm>
            <a:off x="913448" y="5845493"/>
            <a:ext cx="6122432" cy="543639"/>
          </a:xfrm>
          <a:prstGeom prst="rect">
            <a:avLst/>
          </a:prstGeom>
          <a:noFill/>
          <a:ln/>
        </p:spPr>
        <p:txBody>
          <a:bodyPr wrap="square" lIns="0" tIns="0" rIns="0" bIns="0" rtlCol="0" anchor="t"/>
          <a:lstStyle/>
          <a:p>
            <a:pPr algn="l" indent="0" marL="0">
              <a:lnSpc>
                <a:spcPts val="2100"/>
              </a:lnSpc>
              <a:buNone/>
            </a:pPr>
            <a:r>
              <a:rPr lang="en-US" sz="1400" dirty="0">
                <a:solidFill>
                  <a:srgbClr val="384653"/>
                </a:solidFill>
                <a:latin typeface="Roboto" pitchFamily="34" charset="0"/>
                <a:ea typeface="Roboto" pitchFamily="34" charset="-122"/>
                <a:cs typeface="Roboto" pitchFamily="34" charset="-120"/>
              </a:rPr>
              <a:t>The most widely used kernel, excellent for modeling complex, non-linear relationships and capturing intricate patterns in the data.</a:t>
            </a:r>
            <a:endParaRPr lang="en-US" sz="1400" dirty="0"/>
          </a:p>
        </p:txBody>
      </p:sp>
      <p:sp>
        <p:nvSpPr>
          <p:cNvPr id="21" name="Shape 13"/>
          <p:cNvSpPr/>
          <p:nvPr/>
        </p:nvSpPr>
        <p:spPr>
          <a:xfrm>
            <a:off x="7405688" y="4159925"/>
            <a:ext cx="6499979" cy="2689741"/>
          </a:xfrm>
          <a:prstGeom prst="roundRect">
            <a:avLst>
              <a:gd name="adj" fmla="val 2829"/>
            </a:avLst>
          </a:prstGeom>
          <a:solidFill>
            <a:srgbClr val="D9EDF2"/>
          </a:solidFill>
          <a:ln w="7620">
            <a:solidFill>
              <a:srgbClr val="BFD3D8"/>
            </a:solidFill>
            <a:prstDash val="solid"/>
          </a:ln>
        </p:spPr>
      </p:sp>
      <p:pic>
        <p:nvPicPr>
          <p:cNvPr id="22" name="Image 6" descr="preencoded.png">    </p:cNvPr>
          <p:cNvPicPr>
            <a:picLocks noChangeAspect="1"/>
          </p:cNvPicPr>
          <p:nvPr/>
        </p:nvPicPr>
        <p:blipFill>
          <a:blip r:embed="rId10"/>
          <a:stretch>
            <a:fillRect/>
          </a:stretch>
        </p:blipFill>
        <p:spPr>
          <a:xfrm>
            <a:off x="7594402" y="4348639"/>
            <a:ext cx="543520" cy="543520"/>
          </a:xfrm>
          <a:prstGeom prst="rect">
            <a:avLst/>
          </a:prstGeom>
        </p:spPr>
      </p:pic>
      <p:pic>
        <p:nvPicPr>
          <p:cNvPr id="23" name="Image 7"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743825" y="4498062"/>
            <a:ext cx="244554" cy="244554"/>
          </a:xfrm>
          <a:prstGeom prst="rect">
            <a:avLst/>
          </a:prstGeom>
        </p:spPr>
      </p:pic>
      <p:sp>
        <p:nvSpPr>
          <p:cNvPr id="24" name="Text 14"/>
          <p:cNvSpPr/>
          <p:nvPr/>
        </p:nvSpPr>
        <p:spPr>
          <a:xfrm>
            <a:off x="7594402" y="5073253"/>
            <a:ext cx="2264807" cy="283012"/>
          </a:xfrm>
          <a:prstGeom prst="rect">
            <a:avLst/>
          </a:prstGeom>
          <a:noFill/>
          <a:ln/>
        </p:spPr>
        <p:txBody>
          <a:bodyPr wrap="none" lIns="0" tIns="0" rIns="0" bIns="0" rtlCol="0" anchor="t"/>
          <a:lstStyle/>
          <a:p>
            <a:pPr algn="l" indent="0" marL="0">
              <a:lnSpc>
                <a:spcPts val="2200"/>
              </a:lnSpc>
              <a:buNone/>
            </a:pPr>
            <a:r>
              <a:rPr lang="en-US" sz="1750" dirty="0">
                <a:solidFill>
                  <a:srgbClr val="384653"/>
                </a:solidFill>
                <a:latin typeface="Host Grotesk Medium" pitchFamily="34" charset="0"/>
                <a:ea typeface="Host Grotesk Medium" pitchFamily="34" charset="-122"/>
                <a:cs typeface="Host Grotesk Medium" pitchFamily="34" charset="-120"/>
              </a:rPr>
              <a:t>Sigmoid Kernel</a:t>
            </a:r>
            <a:endParaRPr lang="en-US" sz="1750" dirty="0"/>
          </a:p>
        </p:txBody>
      </p:sp>
      <p:sp>
        <p:nvSpPr>
          <p:cNvPr id="25" name="Text 15"/>
          <p:cNvSpPr/>
          <p:nvPr/>
        </p:nvSpPr>
        <p:spPr>
          <a:xfrm>
            <a:off x="7594402" y="5464969"/>
            <a:ext cx="6122551" cy="271820"/>
          </a:xfrm>
          <a:prstGeom prst="rect">
            <a:avLst/>
          </a:prstGeom>
          <a:noFill/>
          <a:ln/>
        </p:spPr>
        <p:txBody>
          <a:bodyPr wrap="none" lIns="0" tIns="0" rIns="0" bIns="0" rtlCol="0" anchor="t"/>
          <a:lstStyle/>
          <a:p>
            <a:pPr algn="l" indent="0" marL="0">
              <a:lnSpc>
                <a:spcPts val="2100"/>
              </a:lnSpc>
              <a:buNone/>
            </a:pPr>
            <a:endParaRPr lang="en-US" sz="1400" dirty="0"/>
          </a:p>
        </p:txBody>
      </p:sp>
      <p:sp>
        <p:nvSpPr>
          <p:cNvPr id="26" name="Text 16"/>
          <p:cNvSpPr/>
          <p:nvPr/>
        </p:nvSpPr>
        <p:spPr>
          <a:xfrm>
            <a:off x="7594402" y="5845493"/>
            <a:ext cx="6122551" cy="815459"/>
          </a:xfrm>
          <a:prstGeom prst="rect">
            <a:avLst/>
          </a:prstGeom>
          <a:noFill/>
          <a:ln/>
        </p:spPr>
        <p:txBody>
          <a:bodyPr wrap="square" lIns="0" tIns="0" rIns="0" bIns="0" rtlCol="0" anchor="t"/>
          <a:lstStyle/>
          <a:p>
            <a:pPr algn="l" indent="0" marL="0">
              <a:lnSpc>
                <a:spcPts val="2100"/>
              </a:lnSpc>
              <a:buNone/>
            </a:pPr>
            <a:r>
              <a:rPr lang="en-US" sz="1400" dirty="0">
                <a:solidFill>
                  <a:srgbClr val="384653"/>
                </a:solidFill>
                <a:latin typeface="Roboto" pitchFamily="34" charset="0"/>
                <a:ea typeface="Roboto" pitchFamily="34" charset="-122"/>
                <a:cs typeface="Roboto" pitchFamily="34" charset="-120"/>
              </a:rPr>
              <a:t>Often behaves similarly to neural networks, useful in scenarios where the data exhibits characteristics amenable to activation function-like transformations.</a:t>
            </a:r>
            <a:endParaRPr lang="en-US" sz="1400" dirty="0"/>
          </a:p>
        </p:txBody>
      </p:sp>
      <p:sp>
        <p:nvSpPr>
          <p:cNvPr id="27" name="Text 17"/>
          <p:cNvSpPr/>
          <p:nvPr/>
        </p:nvSpPr>
        <p:spPr>
          <a:xfrm>
            <a:off x="724733" y="7053501"/>
            <a:ext cx="13180933" cy="543639"/>
          </a:xfrm>
          <a:prstGeom prst="rect">
            <a:avLst/>
          </a:prstGeom>
          <a:noFill/>
          <a:ln/>
        </p:spPr>
        <p:txBody>
          <a:bodyPr wrap="square" lIns="0" tIns="0" rIns="0" bIns="0" rtlCol="0" anchor="t"/>
          <a:lstStyle/>
          <a:p>
            <a:pPr algn="l" indent="0" marL="0">
              <a:lnSpc>
                <a:spcPts val="2100"/>
              </a:lnSpc>
              <a:buNone/>
            </a:pPr>
            <a:r>
              <a:rPr lang="en-US" sz="1400" dirty="0">
                <a:solidFill>
                  <a:srgbClr val="384653"/>
                </a:solidFill>
                <a:latin typeface="Roboto" pitchFamily="34" charset="0"/>
                <a:ea typeface="Roboto" pitchFamily="34" charset="-122"/>
                <a:cs typeface="Roboto" pitchFamily="34" charset="-120"/>
              </a:rPr>
              <a:t>These kernel functions are what allow SVMs to tackle a wide variety of classification problems, transforming data into a space where even complex separations become manageable.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172528"/>
            <a:ext cx="10765155" cy="620078"/>
          </a:xfrm>
          <a:prstGeom prst="rect">
            <a:avLst/>
          </a:prstGeom>
          <a:noFill/>
          <a:ln/>
        </p:spPr>
        <p:txBody>
          <a:bodyPr wrap="none" lIns="0" tIns="0" rIns="0" bIns="0" rtlCol="0" anchor="t"/>
          <a:lstStyle/>
          <a:p>
            <a:pPr algn="l" indent="0" marL="0">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Introducing Support Vector Classification (SVC)</a:t>
            </a:r>
            <a:endParaRPr lang="en-US" sz="3900" dirty="0"/>
          </a:p>
        </p:txBody>
      </p:sp>
      <p:sp>
        <p:nvSpPr>
          <p:cNvPr id="3" name="Text 1"/>
          <p:cNvSpPr/>
          <p:nvPr/>
        </p:nvSpPr>
        <p:spPr>
          <a:xfrm>
            <a:off x="793790" y="2189440"/>
            <a:ext cx="13042821" cy="595313"/>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Support Vector Classification (SVC) is the specific implementation of the SVM algorithm tailored for classification tasks. Its primary objective is to construct an optimal decision boundary based on the margin maximization principle, effectively separating different categories of data.</a:t>
            </a:r>
            <a:endParaRPr lang="en-US" sz="1550" dirty="0"/>
          </a:p>
        </p:txBody>
      </p:sp>
      <p:sp>
        <p:nvSpPr>
          <p:cNvPr id="4" name="Text 2"/>
          <p:cNvSpPr/>
          <p:nvPr/>
        </p:nvSpPr>
        <p:spPr>
          <a:xfrm>
            <a:off x="1091446" y="3305651"/>
            <a:ext cx="12745164" cy="744141"/>
          </a:xfrm>
          <a:prstGeom prst="rect">
            <a:avLst/>
          </a:prstGeom>
          <a:noFill/>
          <a:ln/>
        </p:spPr>
        <p:txBody>
          <a:bodyPr wrap="square" lIns="0" tIns="0" rIns="0" bIns="0" rtlCol="0" anchor="t"/>
          <a:lstStyle/>
          <a:p>
            <a:pPr algn="l" indent="0" marL="0">
              <a:lnSpc>
                <a:spcPts val="2900"/>
              </a:lnSpc>
              <a:buNone/>
            </a:pPr>
            <a:r>
              <a:rPr lang="en-US" sz="2300" dirty="0">
                <a:solidFill>
                  <a:srgbClr val="2E3C4E"/>
                </a:solidFill>
                <a:latin typeface="Host Grotesk Medium" pitchFamily="34" charset="0"/>
                <a:ea typeface="Host Grotesk Medium" pitchFamily="34" charset="-122"/>
                <a:cs typeface="Host Grotesk Medium" pitchFamily="34" charset="-120"/>
              </a:rPr>
              <a:t>SVC aims to minimize classification error by maximizing the margin of separation, ensuring robust and generalizable models.</a:t>
            </a:r>
            <a:endParaRPr lang="en-US" sz="2300" dirty="0"/>
          </a:p>
        </p:txBody>
      </p:sp>
      <p:sp>
        <p:nvSpPr>
          <p:cNvPr id="5" name="Shape 3"/>
          <p:cNvSpPr/>
          <p:nvPr/>
        </p:nvSpPr>
        <p:spPr>
          <a:xfrm>
            <a:off x="793790" y="3007995"/>
            <a:ext cx="22860" cy="1339453"/>
          </a:xfrm>
          <a:prstGeom prst="rect">
            <a:avLst/>
          </a:prstGeom>
          <a:solidFill>
            <a:srgbClr val="95CCDA"/>
          </a:solidFill>
          <a:ln/>
        </p:spPr>
      </p:sp>
      <p:sp>
        <p:nvSpPr>
          <p:cNvPr id="6" name="Text 4"/>
          <p:cNvSpPr/>
          <p:nvPr/>
        </p:nvSpPr>
        <p:spPr>
          <a:xfrm>
            <a:off x="793790" y="4645104"/>
            <a:ext cx="3320534" cy="372070"/>
          </a:xfrm>
          <a:prstGeom prst="rect">
            <a:avLst/>
          </a:prstGeom>
          <a:noFill/>
          <a:ln/>
        </p:spPr>
        <p:txBody>
          <a:bodyPr wrap="none" lIns="0" tIns="0" rIns="0" bIns="0" rtlCol="0" anchor="t"/>
          <a:lstStyle/>
          <a:p>
            <a:pPr algn="l" indent="0" marL="0">
              <a:lnSpc>
                <a:spcPts val="2900"/>
              </a:lnSpc>
              <a:buNone/>
            </a:pPr>
            <a:r>
              <a:rPr lang="en-US" sz="2300" dirty="0">
                <a:solidFill>
                  <a:srgbClr val="2E3C4E"/>
                </a:solidFill>
                <a:latin typeface="Host Grotesk Medium" pitchFamily="34" charset="0"/>
                <a:ea typeface="Host Grotesk Medium" pitchFamily="34" charset="-122"/>
                <a:cs typeface="Host Grotesk Medium" pitchFamily="34" charset="-120"/>
              </a:rPr>
              <a:t>The Hinge Loss Function</a:t>
            </a:r>
            <a:endParaRPr lang="en-US" sz="2300" dirty="0"/>
          </a:p>
        </p:txBody>
      </p:sp>
      <p:sp>
        <p:nvSpPr>
          <p:cNvPr id="7" name="Text 5"/>
          <p:cNvSpPr/>
          <p:nvPr/>
        </p:nvSpPr>
        <p:spPr>
          <a:xfrm>
            <a:off x="793790" y="5314831"/>
            <a:ext cx="13042821" cy="595313"/>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SVC employs the Hinge Loss function to quantify the error. This loss function penalizes misclassified points and points that are within the margin, driving the algorithm to find the widest possible margin.</a:t>
            </a:r>
            <a:endParaRPr lang="en-US" sz="1550" dirty="0"/>
          </a:p>
        </p:txBody>
      </p:sp>
      <p:sp>
        <p:nvSpPr>
          <p:cNvPr id="8" name="Text 6"/>
          <p:cNvSpPr/>
          <p:nvPr/>
        </p:nvSpPr>
        <p:spPr>
          <a:xfrm>
            <a:off x="793790" y="6161246"/>
            <a:ext cx="13042821" cy="346948"/>
          </a:xfrm>
          <a:prstGeom prst="rect">
            <a:avLst/>
          </a:prstGeom>
          <a:noFill/>
          <a:ln/>
        </p:spPr>
        <p:txBody>
          <a:bodyPr wrap="none" lIns="0" tIns="0" rIns="0" bIns="0" rtlCol="0" anchor="t"/>
          <a:lstStyle/>
          <a:p>
            <a:pPr algn="l" indent="0" marL="0">
              <a:lnSpc>
                <a:spcPts val="2600"/>
              </a:lnSpc>
              <a:buNone/>
            </a:pPr>
            <a:endParaRPr lang="en-US" sz="1750" dirty="0"/>
          </a:p>
        </p:txBody>
      </p:sp>
      <p:pic>
        <p:nvPicPr>
          <p:cNvPr id="9" name="Image 0" descr="preencoded.png">    </p:cNvPr>
          <p:cNvPicPr>
            <a:picLocks noChangeAspect="1"/>
          </p:cNvPicPr>
          <p:nvPr/>
        </p:nvPicPr>
        <p:blipFill>
          <a:blip r:embed="rId1"/>
          <a:stretch>
            <a:fillRect/>
          </a:stretch>
        </p:blipFill>
        <p:spPr>
          <a:xfrm>
            <a:off x="793790" y="6161246"/>
            <a:ext cx="13042821" cy="346948"/>
          </a:xfrm>
          <a:prstGeom prst="rect">
            <a:avLst/>
          </a:prstGeom>
        </p:spPr>
      </p:pic>
      <p:sp>
        <p:nvSpPr>
          <p:cNvPr id="10" name="Text 7"/>
          <p:cNvSpPr/>
          <p:nvPr/>
        </p:nvSpPr>
        <p:spPr>
          <a:xfrm>
            <a:off x="793790" y="6759297"/>
            <a:ext cx="13042821" cy="297656"/>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Here, </a:t>
            </a:r>
            <a:pPr algn="l" indent="0" marL="0">
              <a:lnSpc>
                <a:spcPts val="2300"/>
              </a:lnSpc>
              <a:buNone/>
            </a:pPr>
            <a:r>
              <a:rPr lang="en-US" sz="1550" i="1" dirty="0">
                <a:solidFill>
                  <a:srgbClr val="384653"/>
                </a:solidFill>
                <a:latin typeface="Roboto" pitchFamily="34" charset="0"/>
                <a:ea typeface="Roboto" pitchFamily="34" charset="-122"/>
                <a:cs typeface="Roboto" pitchFamily="34" charset="-120"/>
              </a:rPr>
              <a:t>y_i</a:t>
            </a:r>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 is the true label, </a:t>
            </a:r>
            <a:pPr algn="l" indent="0" marL="0">
              <a:lnSpc>
                <a:spcPts val="2300"/>
              </a:lnSpc>
              <a:buNone/>
            </a:pPr>
            <a:r>
              <a:rPr lang="en-US" sz="1550" i="1" dirty="0">
                <a:solidFill>
                  <a:srgbClr val="384653"/>
                </a:solidFill>
                <a:latin typeface="Roboto" pitchFamily="34" charset="0"/>
                <a:ea typeface="Roboto" pitchFamily="34" charset="-122"/>
                <a:cs typeface="Roboto" pitchFamily="34" charset="-120"/>
              </a:rPr>
              <a:t>w^T x_i + b</a:t>
            </a:r>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 is the decision function output, and the loss is zero if the point is correctly classified outside the margin.</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428036"/>
            <a:ext cx="9926241" cy="620078"/>
          </a:xfrm>
          <a:prstGeom prst="rect">
            <a:avLst/>
          </a:prstGeom>
          <a:noFill/>
          <a:ln/>
        </p:spPr>
        <p:txBody>
          <a:bodyPr wrap="none" lIns="0" tIns="0" rIns="0" bIns="0" rtlCol="0" anchor="t"/>
          <a:lstStyle/>
          <a:p>
            <a:pPr algn="l" indent="0" marL="0">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How SVC Works: A Step-by-Step Approach</a:t>
            </a:r>
            <a:endParaRPr lang="en-US" sz="3900" dirty="0"/>
          </a:p>
        </p:txBody>
      </p:sp>
      <p:sp>
        <p:nvSpPr>
          <p:cNvPr id="3" name="Text 1"/>
          <p:cNvSpPr/>
          <p:nvPr/>
        </p:nvSpPr>
        <p:spPr>
          <a:xfrm>
            <a:off x="793790" y="2444948"/>
            <a:ext cx="198358" cy="248007"/>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Host Grotesk Light" pitchFamily="34" charset="0"/>
                <a:ea typeface="Host Grotesk Light" pitchFamily="34" charset="-122"/>
                <a:cs typeface="Host Grotesk Light" pitchFamily="34" charset="-120"/>
              </a:rPr>
              <a:t>01</a:t>
            </a:r>
            <a:endParaRPr lang="en-US" sz="1550" dirty="0"/>
          </a:p>
        </p:txBody>
      </p:sp>
      <p:pic>
        <p:nvPicPr>
          <p:cNvPr id="4" name="Image 0" descr="preencoded.png">    </p:cNvPr>
          <p:cNvPicPr>
            <a:picLocks noChangeAspect="1"/>
          </p:cNvPicPr>
          <p:nvPr/>
        </p:nvPicPr>
        <p:blipFill>
          <a:blip r:embed="rId1"/>
          <a:stretch>
            <a:fillRect/>
          </a:stretch>
        </p:blipFill>
        <p:spPr>
          <a:xfrm>
            <a:off x="793790" y="2759273"/>
            <a:ext cx="4215289" cy="22860"/>
          </a:xfrm>
          <a:prstGeom prst="rect">
            <a:avLst/>
          </a:prstGeom>
        </p:spPr>
      </p:pic>
      <p:sp>
        <p:nvSpPr>
          <p:cNvPr id="5" name="Text 2"/>
          <p:cNvSpPr/>
          <p:nvPr/>
        </p:nvSpPr>
        <p:spPr>
          <a:xfrm>
            <a:off x="793790" y="290417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Labeled Data Input</a:t>
            </a:r>
            <a:endParaRPr lang="en-US" sz="1950" dirty="0"/>
          </a:p>
        </p:txBody>
      </p:sp>
      <p:sp>
        <p:nvSpPr>
          <p:cNvPr id="6" name="Text 3"/>
          <p:cNvSpPr/>
          <p:nvPr/>
        </p:nvSpPr>
        <p:spPr>
          <a:xfrm>
            <a:off x="793790" y="3333393"/>
            <a:ext cx="4215289" cy="892969"/>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SVC begins by taking a dataset where each data point is associated with a known class label.</a:t>
            </a:r>
            <a:endParaRPr lang="en-US" sz="1550" dirty="0"/>
          </a:p>
        </p:txBody>
      </p:sp>
      <p:sp>
        <p:nvSpPr>
          <p:cNvPr id="7" name="Text 4"/>
          <p:cNvSpPr/>
          <p:nvPr/>
        </p:nvSpPr>
        <p:spPr>
          <a:xfrm>
            <a:off x="5207437" y="2444948"/>
            <a:ext cx="198358" cy="248007"/>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Host Grotesk Light" pitchFamily="34" charset="0"/>
                <a:ea typeface="Host Grotesk Light" pitchFamily="34" charset="-122"/>
                <a:cs typeface="Host Grotesk Light" pitchFamily="34" charset="-120"/>
              </a:rPr>
              <a:t>02</a:t>
            </a:r>
            <a:endParaRPr lang="en-US" sz="1550" dirty="0"/>
          </a:p>
        </p:txBody>
      </p:sp>
      <p:pic>
        <p:nvPicPr>
          <p:cNvPr id="8" name="Image 1" descr="preencoded.png">    </p:cNvPr>
          <p:cNvPicPr>
            <a:picLocks noChangeAspect="1"/>
          </p:cNvPicPr>
          <p:nvPr/>
        </p:nvPicPr>
        <p:blipFill>
          <a:blip r:embed="rId2"/>
          <a:stretch>
            <a:fillRect/>
          </a:stretch>
        </p:blipFill>
        <p:spPr>
          <a:xfrm>
            <a:off x="5207437" y="2759273"/>
            <a:ext cx="4215408" cy="22860"/>
          </a:xfrm>
          <a:prstGeom prst="rect">
            <a:avLst/>
          </a:prstGeom>
        </p:spPr>
      </p:pic>
      <p:sp>
        <p:nvSpPr>
          <p:cNvPr id="9" name="Text 5"/>
          <p:cNvSpPr/>
          <p:nvPr/>
        </p:nvSpPr>
        <p:spPr>
          <a:xfrm>
            <a:off x="5207437" y="290417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Kernel Selection</a:t>
            </a:r>
            <a:endParaRPr lang="en-US" sz="1950" dirty="0"/>
          </a:p>
        </p:txBody>
      </p:sp>
      <p:sp>
        <p:nvSpPr>
          <p:cNvPr id="10" name="Text 6"/>
          <p:cNvSpPr/>
          <p:nvPr/>
        </p:nvSpPr>
        <p:spPr>
          <a:xfrm>
            <a:off x="5207437" y="3333393"/>
            <a:ext cx="4215408" cy="892969"/>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A suitable kernel (e.g., linear, RBF, polynomial) is chosen based on the anticipated complexity of the decision boundary needed.</a:t>
            </a:r>
            <a:endParaRPr lang="en-US" sz="1550" dirty="0"/>
          </a:p>
        </p:txBody>
      </p:sp>
      <p:sp>
        <p:nvSpPr>
          <p:cNvPr id="11" name="Text 7"/>
          <p:cNvSpPr/>
          <p:nvPr/>
        </p:nvSpPr>
        <p:spPr>
          <a:xfrm>
            <a:off x="9621203" y="2444948"/>
            <a:ext cx="198358" cy="248007"/>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Host Grotesk Light" pitchFamily="34" charset="0"/>
                <a:ea typeface="Host Grotesk Light" pitchFamily="34" charset="-122"/>
                <a:cs typeface="Host Grotesk Light" pitchFamily="34" charset="-120"/>
              </a:rPr>
              <a:t>03</a:t>
            </a:r>
            <a:endParaRPr lang="en-US" sz="1550" dirty="0"/>
          </a:p>
        </p:txBody>
      </p:sp>
      <p:pic>
        <p:nvPicPr>
          <p:cNvPr id="12" name="Image 2" descr="preencoded.png">    </p:cNvPr>
          <p:cNvPicPr>
            <a:picLocks noChangeAspect="1"/>
          </p:cNvPicPr>
          <p:nvPr/>
        </p:nvPicPr>
        <p:blipFill>
          <a:blip r:embed="rId3"/>
          <a:stretch>
            <a:fillRect/>
          </a:stretch>
        </p:blipFill>
        <p:spPr>
          <a:xfrm>
            <a:off x="9621203" y="2759273"/>
            <a:ext cx="4215289" cy="22860"/>
          </a:xfrm>
          <a:prstGeom prst="rect">
            <a:avLst/>
          </a:prstGeom>
        </p:spPr>
      </p:pic>
      <p:sp>
        <p:nvSpPr>
          <p:cNvPr id="13" name="Text 8"/>
          <p:cNvSpPr/>
          <p:nvPr/>
        </p:nvSpPr>
        <p:spPr>
          <a:xfrm>
            <a:off x="9621203" y="290417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Margin Maximization</a:t>
            </a:r>
            <a:endParaRPr lang="en-US" sz="1950" dirty="0"/>
          </a:p>
        </p:txBody>
      </p:sp>
      <p:sp>
        <p:nvSpPr>
          <p:cNvPr id="14" name="Text 9"/>
          <p:cNvSpPr/>
          <p:nvPr/>
        </p:nvSpPr>
        <p:spPr>
          <a:xfrm>
            <a:off x="9621203" y="3333393"/>
            <a:ext cx="4215289" cy="1190625"/>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The algorithm then works to identify the hyperplane that maximizes the margin between the different classes, using support vectors as guiding points.</a:t>
            </a:r>
            <a:endParaRPr lang="en-US" sz="1550" dirty="0"/>
          </a:p>
        </p:txBody>
      </p:sp>
      <p:sp>
        <p:nvSpPr>
          <p:cNvPr id="15" name="Text 10"/>
          <p:cNvSpPr/>
          <p:nvPr/>
        </p:nvSpPr>
        <p:spPr>
          <a:xfrm>
            <a:off x="793790" y="4871204"/>
            <a:ext cx="198358" cy="248007"/>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Host Grotesk Light" pitchFamily="34" charset="0"/>
                <a:ea typeface="Host Grotesk Light" pitchFamily="34" charset="-122"/>
                <a:cs typeface="Host Grotesk Light" pitchFamily="34" charset="-120"/>
              </a:rPr>
              <a:t>04</a:t>
            </a:r>
            <a:endParaRPr lang="en-US" sz="1550" dirty="0"/>
          </a:p>
        </p:txBody>
      </p:sp>
      <p:pic>
        <p:nvPicPr>
          <p:cNvPr id="16" name="Image 3" descr="preencoded.png">    </p:cNvPr>
          <p:cNvPicPr>
            <a:picLocks noChangeAspect="1"/>
          </p:cNvPicPr>
          <p:nvPr/>
        </p:nvPicPr>
        <p:blipFill>
          <a:blip r:embed="rId4"/>
          <a:stretch>
            <a:fillRect/>
          </a:stretch>
        </p:blipFill>
        <p:spPr>
          <a:xfrm>
            <a:off x="793790" y="5165765"/>
            <a:ext cx="6422112" cy="22860"/>
          </a:xfrm>
          <a:prstGeom prst="rect">
            <a:avLst/>
          </a:prstGeom>
        </p:spPr>
      </p:pic>
      <p:sp>
        <p:nvSpPr>
          <p:cNvPr id="17" name="Text 11"/>
          <p:cNvSpPr/>
          <p:nvPr/>
        </p:nvSpPr>
        <p:spPr>
          <a:xfrm>
            <a:off x="793790" y="533042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Classifier Creation</a:t>
            </a:r>
            <a:endParaRPr lang="en-US" sz="1950" dirty="0"/>
          </a:p>
        </p:txBody>
      </p:sp>
      <p:sp>
        <p:nvSpPr>
          <p:cNvPr id="18" name="Text 12"/>
          <p:cNvSpPr/>
          <p:nvPr/>
        </p:nvSpPr>
        <p:spPr>
          <a:xfrm>
            <a:off x="793790" y="5759648"/>
            <a:ext cx="6422112" cy="595313"/>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Once the optimal hyperplane is found, an SVC classifier is created, effectively defining the separation boundary.</a:t>
            </a:r>
            <a:endParaRPr lang="en-US" sz="1550" dirty="0"/>
          </a:p>
        </p:txBody>
      </p:sp>
      <p:sp>
        <p:nvSpPr>
          <p:cNvPr id="19" name="Text 13"/>
          <p:cNvSpPr/>
          <p:nvPr/>
        </p:nvSpPr>
        <p:spPr>
          <a:xfrm>
            <a:off x="7414260" y="4871204"/>
            <a:ext cx="198358" cy="248007"/>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Host Grotesk Light" pitchFamily="34" charset="0"/>
                <a:ea typeface="Host Grotesk Light" pitchFamily="34" charset="-122"/>
                <a:cs typeface="Host Grotesk Light" pitchFamily="34" charset="-120"/>
              </a:rPr>
              <a:t>05</a:t>
            </a:r>
            <a:endParaRPr lang="en-US" sz="1550" dirty="0"/>
          </a:p>
        </p:txBody>
      </p:sp>
      <p:pic>
        <p:nvPicPr>
          <p:cNvPr id="20" name="Image 4" descr="preencoded.png">    </p:cNvPr>
          <p:cNvPicPr>
            <a:picLocks noChangeAspect="1"/>
          </p:cNvPicPr>
          <p:nvPr/>
        </p:nvPicPr>
        <p:blipFill>
          <a:blip r:embed="rId5"/>
          <a:stretch>
            <a:fillRect/>
          </a:stretch>
        </p:blipFill>
        <p:spPr>
          <a:xfrm>
            <a:off x="7414260" y="5165765"/>
            <a:ext cx="6422231" cy="22860"/>
          </a:xfrm>
          <a:prstGeom prst="rect">
            <a:avLst/>
          </a:prstGeom>
        </p:spPr>
      </p:pic>
      <p:sp>
        <p:nvSpPr>
          <p:cNvPr id="21" name="Text 14"/>
          <p:cNvSpPr/>
          <p:nvPr/>
        </p:nvSpPr>
        <p:spPr>
          <a:xfrm>
            <a:off x="7414260" y="5330428"/>
            <a:ext cx="2656165" cy="310158"/>
          </a:xfrm>
          <a:prstGeom prst="rect">
            <a:avLst/>
          </a:prstGeom>
          <a:noFill/>
          <a:ln/>
        </p:spPr>
        <p:txBody>
          <a:bodyPr wrap="none" lIns="0" tIns="0" rIns="0" bIns="0" rtlCol="0" anchor="t"/>
          <a:lstStyle/>
          <a:p>
            <a:pPr algn="l"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Prediction on New Data</a:t>
            </a:r>
            <a:endParaRPr lang="en-US" sz="1950" dirty="0"/>
          </a:p>
        </p:txBody>
      </p:sp>
      <p:sp>
        <p:nvSpPr>
          <p:cNvPr id="22" name="Text 15"/>
          <p:cNvSpPr/>
          <p:nvPr/>
        </p:nvSpPr>
        <p:spPr>
          <a:xfrm>
            <a:off x="7414260" y="5759648"/>
            <a:ext cx="6422231" cy="892969"/>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Finally, the trained classifier is used to predict the class labels for new, unseen data points, placing them on one side or the other of the learned boundary.</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327547"/>
            <a:ext cx="10043755" cy="620078"/>
          </a:xfrm>
          <a:prstGeom prst="rect">
            <a:avLst/>
          </a:prstGeom>
          <a:noFill/>
          <a:ln/>
        </p:spPr>
        <p:txBody>
          <a:bodyPr wrap="none" lIns="0" tIns="0" rIns="0" bIns="0" rtlCol="0" anchor="t"/>
          <a:lstStyle/>
          <a:p>
            <a:pPr algn="l" indent="0" marL="0">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Key Hyperparameters for SVC Model Tuning</a:t>
            </a:r>
            <a:endParaRPr lang="en-US" sz="3900" dirty="0"/>
          </a:p>
        </p:txBody>
      </p:sp>
      <p:sp>
        <p:nvSpPr>
          <p:cNvPr id="3" name="Text 1"/>
          <p:cNvSpPr/>
          <p:nvPr/>
        </p:nvSpPr>
        <p:spPr>
          <a:xfrm>
            <a:off x="793790" y="2344460"/>
            <a:ext cx="13042821" cy="297656"/>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Effective tuning of SVC hyperparameters is crucial for achieving optimal model performance, balancing bias and variance.</a:t>
            </a:r>
            <a:endParaRPr lang="en-US" sz="1550" dirty="0"/>
          </a:p>
        </p:txBody>
      </p:sp>
      <p:sp>
        <p:nvSpPr>
          <p:cNvPr id="4" name="Shape 2"/>
          <p:cNvSpPr/>
          <p:nvPr/>
        </p:nvSpPr>
        <p:spPr>
          <a:xfrm>
            <a:off x="793790" y="2865358"/>
            <a:ext cx="4215289" cy="4036695"/>
          </a:xfrm>
          <a:prstGeom prst="roundRect">
            <a:avLst>
              <a:gd name="adj" fmla="val 2065"/>
            </a:avLst>
          </a:prstGeom>
          <a:solidFill>
            <a:srgbClr val="FAF9F5"/>
          </a:solidFill>
          <a:ln w="22860">
            <a:solidFill>
              <a:srgbClr val="BFD3D8"/>
            </a:solidFill>
            <a:prstDash val="solid"/>
          </a:ln>
        </p:spPr>
      </p:sp>
      <p:sp>
        <p:nvSpPr>
          <p:cNvPr id="5" name="Text 3"/>
          <p:cNvSpPr/>
          <p:nvPr/>
        </p:nvSpPr>
        <p:spPr>
          <a:xfrm>
            <a:off x="1015008" y="3086576"/>
            <a:ext cx="3278743" cy="310158"/>
          </a:xfrm>
          <a:prstGeom prst="rect">
            <a:avLst/>
          </a:prstGeom>
          <a:noFill/>
          <a:ln/>
        </p:spPr>
        <p:txBody>
          <a:bodyPr wrap="none" lIns="0" tIns="0" rIns="0" bIns="0" rtlCol="0" anchor="t"/>
          <a:lstStyle/>
          <a:p>
            <a:pPr algn="l"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C (Regularization Parameter)</a:t>
            </a:r>
            <a:endParaRPr lang="en-US" sz="1950" dirty="0"/>
          </a:p>
        </p:txBody>
      </p:sp>
      <p:sp>
        <p:nvSpPr>
          <p:cNvPr id="6" name="Text 4"/>
          <p:cNvSpPr/>
          <p:nvPr/>
        </p:nvSpPr>
        <p:spPr>
          <a:xfrm>
            <a:off x="1015008" y="3515797"/>
            <a:ext cx="3772853" cy="1190625"/>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This parameter dictates the trade-off between maximizing the margin and minimizing classification errors on the training data.</a:t>
            </a:r>
            <a:endParaRPr lang="en-US" sz="1550" dirty="0"/>
          </a:p>
        </p:txBody>
      </p:sp>
      <p:sp>
        <p:nvSpPr>
          <p:cNvPr id="7" name="Text 5"/>
          <p:cNvSpPr/>
          <p:nvPr/>
        </p:nvSpPr>
        <p:spPr>
          <a:xfrm>
            <a:off x="1015008" y="4825484"/>
            <a:ext cx="3772853" cy="892969"/>
          </a:xfrm>
          <a:prstGeom prst="rect">
            <a:avLst/>
          </a:prstGeom>
          <a:noFill/>
          <a:ln/>
        </p:spPr>
        <p:txBody>
          <a:bodyPr wrap="square" lIns="0" tIns="0" rIns="0" bIns="0" rtlCol="0" anchor="t"/>
          <a:lstStyle/>
          <a:p>
            <a:pPr algn="l" marL="342900" indent="-342900">
              <a:lnSpc>
                <a:spcPts val="2300"/>
              </a:lnSpc>
              <a:buSzPct val="100000"/>
              <a:buChar char="•"/>
            </a:pPr>
            <a:r>
              <a:rPr lang="en-US" sz="1550" b="1" dirty="0">
                <a:solidFill>
                  <a:srgbClr val="384653"/>
                </a:solidFill>
                <a:latin typeface="Roboto" pitchFamily="34" charset="0"/>
                <a:ea typeface="Roboto" pitchFamily="34" charset="-122"/>
                <a:cs typeface="Roboto" pitchFamily="34" charset="-120"/>
              </a:rPr>
              <a:t>High C:</a:t>
            </a:r>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 Smaller margin, aims for perfect classification (risk of overfitting).</a:t>
            </a:r>
            <a:endParaRPr lang="en-US" sz="1550" dirty="0"/>
          </a:p>
        </p:txBody>
      </p:sp>
      <p:sp>
        <p:nvSpPr>
          <p:cNvPr id="8" name="Text 6"/>
          <p:cNvSpPr/>
          <p:nvPr/>
        </p:nvSpPr>
        <p:spPr>
          <a:xfrm>
            <a:off x="1015008" y="5787866"/>
            <a:ext cx="3772853" cy="892969"/>
          </a:xfrm>
          <a:prstGeom prst="rect">
            <a:avLst/>
          </a:prstGeom>
          <a:noFill/>
          <a:ln/>
        </p:spPr>
        <p:txBody>
          <a:bodyPr wrap="square" lIns="0" tIns="0" rIns="0" bIns="0" rtlCol="0" anchor="t"/>
          <a:lstStyle/>
          <a:p>
            <a:pPr algn="l" marL="342900" indent="-342900">
              <a:lnSpc>
                <a:spcPts val="2300"/>
              </a:lnSpc>
              <a:buSzPct val="100000"/>
              <a:buChar char="•"/>
            </a:pPr>
            <a:r>
              <a:rPr lang="en-US" sz="1550" b="1" dirty="0">
                <a:solidFill>
                  <a:srgbClr val="384653"/>
                </a:solidFill>
                <a:latin typeface="Roboto" pitchFamily="34" charset="0"/>
                <a:ea typeface="Roboto" pitchFamily="34" charset="-122"/>
                <a:cs typeface="Roboto" pitchFamily="34" charset="-120"/>
              </a:rPr>
              <a:t>Low C:</a:t>
            </a:r>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 Larger margin, allows more misclassifications (better generalization).</a:t>
            </a:r>
            <a:endParaRPr lang="en-US" sz="1550" dirty="0"/>
          </a:p>
        </p:txBody>
      </p:sp>
      <p:sp>
        <p:nvSpPr>
          <p:cNvPr id="9" name="Shape 7"/>
          <p:cNvSpPr/>
          <p:nvPr/>
        </p:nvSpPr>
        <p:spPr>
          <a:xfrm>
            <a:off x="5207437" y="2865358"/>
            <a:ext cx="4215408" cy="4036695"/>
          </a:xfrm>
          <a:prstGeom prst="roundRect">
            <a:avLst>
              <a:gd name="adj" fmla="val 2065"/>
            </a:avLst>
          </a:prstGeom>
          <a:solidFill>
            <a:srgbClr val="FAF9F5"/>
          </a:solidFill>
          <a:ln w="22860">
            <a:solidFill>
              <a:srgbClr val="BFD3D8"/>
            </a:solidFill>
            <a:prstDash val="solid"/>
          </a:ln>
        </p:spPr>
      </p:sp>
      <p:sp>
        <p:nvSpPr>
          <p:cNvPr id="10" name="Text 8"/>
          <p:cNvSpPr/>
          <p:nvPr/>
        </p:nvSpPr>
        <p:spPr>
          <a:xfrm>
            <a:off x="5428655" y="308657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Kernel</a:t>
            </a:r>
            <a:endParaRPr lang="en-US" sz="1950" dirty="0"/>
          </a:p>
        </p:txBody>
      </p:sp>
      <p:sp>
        <p:nvSpPr>
          <p:cNvPr id="11" name="Text 9"/>
          <p:cNvSpPr/>
          <p:nvPr/>
        </p:nvSpPr>
        <p:spPr>
          <a:xfrm>
            <a:off x="5428655" y="3515797"/>
            <a:ext cx="3772972" cy="892969"/>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The choice of kernel function fundamentally determines the shape of the decision boundary.</a:t>
            </a:r>
            <a:endParaRPr lang="en-US" sz="1550" dirty="0"/>
          </a:p>
        </p:txBody>
      </p:sp>
      <p:sp>
        <p:nvSpPr>
          <p:cNvPr id="12" name="Text 10"/>
          <p:cNvSpPr/>
          <p:nvPr/>
        </p:nvSpPr>
        <p:spPr>
          <a:xfrm>
            <a:off x="5428655" y="4527828"/>
            <a:ext cx="3772972" cy="595313"/>
          </a:xfrm>
          <a:prstGeom prst="rect">
            <a:avLst/>
          </a:prstGeom>
          <a:noFill/>
          <a:ln/>
        </p:spPr>
        <p:txBody>
          <a:bodyPr wrap="square" lIns="0" tIns="0" rIns="0" bIns="0" rtlCol="0" anchor="t"/>
          <a:lstStyle/>
          <a:p>
            <a:pPr algn="l" marL="342900" indent="-342900">
              <a:lnSpc>
                <a:spcPts val="2300"/>
              </a:lnSpc>
              <a:buSzPct val="100000"/>
              <a:buChar char="•"/>
            </a:pPr>
            <a:r>
              <a:rPr lang="en-US" sz="1550" b="1" dirty="0">
                <a:solidFill>
                  <a:srgbClr val="384653"/>
                </a:solidFill>
                <a:latin typeface="Roboto" pitchFamily="34" charset="0"/>
                <a:ea typeface="Roboto" pitchFamily="34" charset="-122"/>
                <a:cs typeface="Roboto" pitchFamily="34" charset="-120"/>
              </a:rPr>
              <a:t>"linear":</a:t>
            </a:r>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 Creates a straight decision boundary.</a:t>
            </a:r>
            <a:endParaRPr lang="en-US" sz="1550" dirty="0"/>
          </a:p>
        </p:txBody>
      </p:sp>
      <p:sp>
        <p:nvSpPr>
          <p:cNvPr id="13" name="Text 11"/>
          <p:cNvSpPr/>
          <p:nvPr/>
        </p:nvSpPr>
        <p:spPr>
          <a:xfrm>
            <a:off x="5428655" y="5192554"/>
            <a:ext cx="3772972" cy="595313"/>
          </a:xfrm>
          <a:prstGeom prst="rect">
            <a:avLst/>
          </a:prstGeom>
          <a:noFill/>
          <a:ln/>
        </p:spPr>
        <p:txBody>
          <a:bodyPr wrap="square" lIns="0" tIns="0" rIns="0" bIns="0" rtlCol="0" anchor="t"/>
          <a:lstStyle/>
          <a:p>
            <a:pPr algn="l" marL="342900" indent="-342900">
              <a:lnSpc>
                <a:spcPts val="2300"/>
              </a:lnSpc>
              <a:buSzPct val="100000"/>
              <a:buChar char="•"/>
            </a:pPr>
            <a:r>
              <a:rPr lang="en-US" sz="1550" b="1" dirty="0">
                <a:solidFill>
                  <a:srgbClr val="384653"/>
                </a:solidFill>
                <a:latin typeface="Roboto" pitchFamily="34" charset="0"/>
                <a:ea typeface="Roboto" pitchFamily="34" charset="-122"/>
                <a:cs typeface="Roboto" pitchFamily="34" charset="-120"/>
              </a:rPr>
              <a:t>"rbf":</a:t>
            </a:r>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 Generates flexible, curved boundaries.</a:t>
            </a:r>
            <a:endParaRPr lang="en-US" sz="1550" dirty="0"/>
          </a:p>
        </p:txBody>
      </p:sp>
      <p:sp>
        <p:nvSpPr>
          <p:cNvPr id="14" name="Text 12"/>
          <p:cNvSpPr/>
          <p:nvPr/>
        </p:nvSpPr>
        <p:spPr>
          <a:xfrm>
            <a:off x="5428655" y="5857280"/>
            <a:ext cx="3772972" cy="595313"/>
          </a:xfrm>
          <a:prstGeom prst="rect">
            <a:avLst/>
          </a:prstGeom>
          <a:noFill/>
          <a:ln/>
        </p:spPr>
        <p:txBody>
          <a:bodyPr wrap="square" lIns="0" tIns="0" rIns="0" bIns="0" rtlCol="0" anchor="t"/>
          <a:lstStyle/>
          <a:p>
            <a:pPr algn="l" marL="342900" indent="-342900">
              <a:lnSpc>
                <a:spcPts val="2300"/>
              </a:lnSpc>
              <a:buSzPct val="100000"/>
              <a:buChar char="•"/>
            </a:pPr>
            <a:r>
              <a:rPr lang="en-US" sz="1550" b="1" dirty="0">
                <a:solidFill>
                  <a:srgbClr val="384653"/>
                </a:solidFill>
                <a:latin typeface="Roboto" pitchFamily="34" charset="0"/>
                <a:ea typeface="Roboto" pitchFamily="34" charset="-122"/>
                <a:cs typeface="Roboto" pitchFamily="34" charset="-120"/>
              </a:rPr>
              <a:t>"poly":</a:t>
            </a:r>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 Forms polynomial curves for separation.</a:t>
            </a:r>
            <a:endParaRPr lang="en-US" sz="1550" dirty="0"/>
          </a:p>
        </p:txBody>
      </p:sp>
      <p:sp>
        <p:nvSpPr>
          <p:cNvPr id="15" name="Shape 13"/>
          <p:cNvSpPr/>
          <p:nvPr/>
        </p:nvSpPr>
        <p:spPr>
          <a:xfrm>
            <a:off x="9621203" y="2865358"/>
            <a:ext cx="4215289" cy="4036695"/>
          </a:xfrm>
          <a:prstGeom prst="roundRect">
            <a:avLst>
              <a:gd name="adj" fmla="val 2065"/>
            </a:avLst>
          </a:prstGeom>
          <a:solidFill>
            <a:srgbClr val="FAF9F5"/>
          </a:solidFill>
          <a:ln w="22860">
            <a:solidFill>
              <a:srgbClr val="BFD3D8"/>
            </a:solidFill>
            <a:prstDash val="solid"/>
          </a:ln>
        </p:spPr>
      </p:sp>
      <p:sp>
        <p:nvSpPr>
          <p:cNvPr id="16" name="Text 14"/>
          <p:cNvSpPr/>
          <p:nvPr/>
        </p:nvSpPr>
        <p:spPr>
          <a:xfrm>
            <a:off x="9842421" y="308657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Gamma (γ)</a:t>
            </a:r>
            <a:endParaRPr lang="en-US" sz="1950" dirty="0"/>
          </a:p>
        </p:txBody>
      </p:sp>
      <p:sp>
        <p:nvSpPr>
          <p:cNvPr id="17" name="Text 15"/>
          <p:cNvSpPr/>
          <p:nvPr/>
        </p:nvSpPr>
        <p:spPr>
          <a:xfrm>
            <a:off x="9842421" y="3515797"/>
            <a:ext cx="3772853" cy="892969"/>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Used specifically in the RBF and polynomial kernels, Gamma influences the reach of a single training example.</a:t>
            </a:r>
            <a:endParaRPr lang="en-US" sz="1550" dirty="0"/>
          </a:p>
        </p:txBody>
      </p:sp>
      <p:sp>
        <p:nvSpPr>
          <p:cNvPr id="18" name="Text 16"/>
          <p:cNvSpPr/>
          <p:nvPr/>
        </p:nvSpPr>
        <p:spPr>
          <a:xfrm>
            <a:off x="9842421" y="4527828"/>
            <a:ext cx="3772853" cy="892969"/>
          </a:xfrm>
          <a:prstGeom prst="rect">
            <a:avLst/>
          </a:prstGeom>
          <a:noFill/>
          <a:ln/>
        </p:spPr>
        <p:txBody>
          <a:bodyPr wrap="square" lIns="0" tIns="0" rIns="0" bIns="0" rtlCol="0" anchor="t"/>
          <a:lstStyle/>
          <a:p>
            <a:pPr algn="l" marL="342900" indent="-342900">
              <a:lnSpc>
                <a:spcPts val="2300"/>
              </a:lnSpc>
              <a:buSzPct val="100000"/>
              <a:buChar char="•"/>
            </a:pPr>
            <a:r>
              <a:rPr lang="en-US" sz="1550" b="1" dirty="0">
                <a:solidFill>
                  <a:srgbClr val="384653"/>
                </a:solidFill>
                <a:latin typeface="Roboto" pitchFamily="34" charset="0"/>
                <a:ea typeface="Roboto" pitchFamily="34" charset="-122"/>
                <a:cs typeface="Roboto" pitchFamily="34" charset="-120"/>
              </a:rPr>
              <a:t>High Gamma:</a:t>
            </a:r>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 Decision boundary becomes tight, sensitive to individual data points (overfitting).</a:t>
            </a:r>
            <a:endParaRPr lang="en-US" sz="1550" dirty="0"/>
          </a:p>
        </p:txBody>
      </p:sp>
      <p:sp>
        <p:nvSpPr>
          <p:cNvPr id="19" name="Text 17"/>
          <p:cNvSpPr/>
          <p:nvPr/>
        </p:nvSpPr>
        <p:spPr>
          <a:xfrm>
            <a:off x="9842421" y="5490210"/>
            <a:ext cx="3772853" cy="892969"/>
          </a:xfrm>
          <a:prstGeom prst="rect">
            <a:avLst/>
          </a:prstGeom>
          <a:noFill/>
          <a:ln/>
        </p:spPr>
        <p:txBody>
          <a:bodyPr wrap="square" lIns="0" tIns="0" rIns="0" bIns="0" rtlCol="0" anchor="t"/>
          <a:lstStyle/>
          <a:p>
            <a:pPr algn="l" marL="342900" indent="-342900">
              <a:lnSpc>
                <a:spcPts val="2300"/>
              </a:lnSpc>
              <a:buSzPct val="100000"/>
              <a:buChar char="•"/>
            </a:pPr>
            <a:r>
              <a:rPr lang="en-US" sz="1550" b="1" dirty="0">
                <a:solidFill>
                  <a:srgbClr val="384653"/>
                </a:solidFill>
                <a:latin typeface="Roboto" pitchFamily="34" charset="0"/>
                <a:ea typeface="Roboto" pitchFamily="34" charset="-122"/>
                <a:cs typeface="Roboto" pitchFamily="34" charset="-120"/>
              </a:rPr>
              <a:t>Low Gamma:</a:t>
            </a:r>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 Produces a smoother, broader decision boundary (potential for underfitting).</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21137" y="358259"/>
            <a:ext cx="7119104" cy="407194"/>
          </a:xfrm>
          <a:prstGeom prst="rect">
            <a:avLst/>
          </a:prstGeom>
          <a:noFill/>
          <a:ln/>
        </p:spPr>
        <p:txBody>
          <a:bodyPr wrap="none" lIns="0" tIns="0" rIns="0" bIns="0" rtlCol="0" anchor="t"/>
          <a:lstStyle/>
          <a:p>
            <a:pPr algn="l" indent="0" marL="0">
              <a:lnSpc>
                <a:spcPts val="3200"/>
              </a:lnSpc>
              <a:buNone/>
            </a:pPr>
            <a:r>
              <a:rPr lang="en-US" sz="2550" dirty="0">
                <a:solidFill>
                  <a:srgbClr val="2E3C4E"/>
                </a:solidFill>
                <a:latin typeface="Host Grotesk Medium" pitchFamily="34" charset="0"/>
                <a:ea typeface="Host Grotesk Medium" pitchFamily="34" charset="-122"/>
                <a:cs typeface="Host Grotesk Medium" pitchFamily="34" charset="-120"/>
              </a:rPr>
              <a:t>Advanced Hyperparameters for Refined Control</a:t>
            </a:r>
            <a:endParaRPr lang="en-US" sz="2550" dirty="0"/>
          </a:p>
        </p:txBody>
      </p:sp>
      <p:sp>
        <p:nvSpPr>
          <p:cNvPr id="3" name="Text 1"/>
          <p:cNvSpPr/>
          <p:nvPr/>
        </p:nvSpPr>
        <p:spPr>
          <a:xfrm>
            <a:off x="521137" y="1025962"/>
            <a:ext cx="13588127" cy="195382"/>
          </a:xfrm>
          <a:prstGeom prst="rect">
            <a:avLst/>
          </a:prstGeom>
          <a:noFill/>
          <a:ln/>
        </p:spPr>
        <p:txBody>
          <a:bodyPr wrap="none" lIns="0" tIns="0" rIns="0" bIns="0" rtlCol="0" anchor="t"/>
          <a:lstStyle/>
          <a:p>
            <a:pPr algn="l" indent="0" marL="0">
              <a:lnSpc>
                <a:spcPts val="1500"/>
              </a:lnSpc>
              <a:buNone/>
            </a:pPr>
            <a:r>
              <a:rPr lang="en-US" sz="1000" dirty="0">
                <a:solidFill>
                  <a:srgbClr val="384653"/>
                </a:solidFill>
                <a:latin typeface="Roboto" pitchFamily="34" charset="0"/>
                <a:ea typeface="Roboto" pitchFamily="34" charset="-122"/>
                <a:cs typeface="Roboto" pitchFamily="34" charset="-120"/>
              </a:rPr>
              <a:t>Beyond the primary parameters, several others provide granular control over SVC behavior.</a:t>
            </a:r>
            <a:endParaRPr lang="en-US" sz="1000" dirty="0"/>
          </a:p>
        </p:txBody>
      </p:sp>
      <p:sp>
        <p:nvSpPr>
          <p:cNvPr id="4" name="Text 2"/>
          <p:cNvSpPr/>
          <p:nvPr/>
        </p:nvSpPr>
        <p:spPr>
          <a:xfrm>
            <a:off x="521137" y="1498163"/>
            <a:ext cx="1628656" cy="203597"/>
          </a:xfrm>
          <a:prstGeom prst="rect">
            <a:avLst/>
          </a:prstGeom>
          <a:noFill/>
          <a:ln/>
        </p:spPr>
        <p:txBody>
          <a:bodyPr wrap="none" lIns="0" tIns="0" rIns="0" bIns="0" rtlCol="0" anchor="t"/>
          <a:lstStyle/>
          <a:p>
            <a:pPr algn="l" indent="0" marL="0">
              <a:lnSpc>
                <a:spcPts val="1600"/>
              </a:lnSpc>
              <a:buNone/>
            </a:pPr>
            <a:r>
              <a:rPr lang="en-US" sz="1250" dirty="0">
                <a:solidFill>
                  <a:srgbClr val="2E3C4E"/>
                </a:solidFill>
                <a:latin typeface="Host Grotesk Medium" pitchFamily="34" charset="0"/>
                <a:ea typeface="Host Grotesk Medium" pitchFamily="34" charset="-122"/>
                <a:cs typeface="Host Grotesk Medium" pitchFamily="34" charset="-120"/>
              </a:rPr>
              <a:t>Degree</a:t>
            </a:r>
            <a:endParaRPr lang="en-US" sz="1250" dirty="0"/>
          </a:p>
        </p:txBody>
      </p:sp>
      <p:sp>
        <p:nvSpPr>
          <p:cNvPr id="5" name="Text 3"/>
          <p:cNvSpPr/>
          <p:nvPr/>
        </p:nvSpPr>
        <p:spPr>
          <a:xfrm>
            <a:off x="521137" y="1832015"/>
            <a:ext cx="6635115" cy="195382"/>
          </a:xfrm>
          <a:prstGeom prst="rect">
            <a:avLst/>
          </a:prstGeom>
          <a:noFill/>
          <a:ln/>
        </p:spPr>
        <p:txBody>
          <a:bodyPr wrap="none" lIns="0" tIns="0" rIns="0" bIns="0" rtlCol="0" anchor="t"/>
          <a:lstStyle/>
          <a:p>
            <a:pPr algn="l" indent="0" marL="0">
              <a:lnSpc>
                <a:spcPts val="1500"/>
              </a:lnSpc>
              <a:buNone/>
            </a:pPr>
            <a:r>
              <a:rPr lang="en-US" sz="1000" dirty="0">
                <a:solidFill>
                  <a:srgbClr val="384653"/>
                </a:solidFill>
                <a:latin typeface="Roboto" pitchFamily="34" charset="0"/>
                <a:ea typeface="Roboto" pitchFamily="34" charset="-122"/>
                <a:cs typeface="Roboto" pitchFamily="34" charset="-120"/>
              </a:rPr>
              <a:t>(For Polynomial Kernel only)</a:t>
            </a:r>
            <a:endParaRPr lang="en-US" sz="1000" dirty="0"/>
          </a:p>
        </p:txBody>
      </p:sp>
      <p:sp>
        <p:nvSpPr>
          <p:cNvPr id="6" name="Text 4"/>
          <p:cNvSpPr/>
          <p:nvPr/>
        </p:nvSpPr>
        <p:spPr>
          <a:xfrm>
            <a:off x="521137" y="2144554"/>
            <a:ext cx="6635115" cy="195382"/>
          </a:xfrm>
          <a:prstGeom prst="rect">
            <a:avLst/>
          </a:prstGeom>
          <a:noFill/>
          <a:ln/>
        </p:spPr>
        <p:txBody>
          <a:bodyPr wrap="none" lIns="0" tIns="0" rIns="0" bIns="0" rtlCol="0" anchor="t"/>
          <a:lstStyle/>
          <a:p>
            <a:pPr algn="l" marL="342900" indent="-342900">
              <a:lnSpc>
                <a:spcPts val="1500"/>
              </a:lnSpc>
              <a:buSzPct val="100000"/>
              <a:buChar char="•"/>
            </a:pPr>
            <a:r>
              <a:rPr lang="en-US" sz="1000" dirty="0">
                <a:solidFill>
                  <a:srgbClr val="384653"/>
                </a:solidFill>
                <a:latin typeface="Roboto" pitchFamily="34" charset="0"/>
                <a:ea typeface="Roboto" pitchFamily="34" charset="-122"/>
                <a:cs typeface="Roboto" pitchFamily="34" charset="-120"/>
              </a:rPr>
              <a:t>Specifies the degree of the polynomial function.</a:t>
            </a:r>
            <a:endParaRPr lang="en-US" sz="1000" dirty="0"/>
          </a:p>
        </p:txBody>
      </p:sp>
      <p:sp>
        <p:nvSpPr>
          <p:cNvPr id="7" name="Text 5"/>
          <p:cNvSpPr/>
          <p:nvPr/>
        </p:nvSpPr>
        <p:spPr>
          <a:xfrm>
            <a:off x="521137" y="2385536"/>
            <a:ext cx="6635115" cy="195382"/>
          </a:xfrm>
          <a:prstGeom prst="rect">
            <a:avLst/>
          </a:prstGeom>
          <a:noFill/>
          <a:ln/>
        </p:spPr>
        <p:txBody>
          <a:bodyPr wrap="none" lIns="0" tIns="0" rIns="0" bIns="0" rtlCol="0" anchor="t"/>
          <a:lstStyle/>
          <a:p>
            <a:pPr algn="l" marL="342900" indent="-342900">
              <a:lnSpc>
                <a:spcPts val="1500"/>
              </a:lnSpc>
              <a:buSzPct val="100000"/>
              <a:buChar char="•"/>
            </a:pPr>
            <a:r>
              <a:rPr lang="en-US" sz="1000" dirty="0">
                <a:solidFill>
                  <a:srgbClr val="384653"/>
                </a:solidFill>
                <a:latin typeface="Roboto" pitchFamily="34" charset="0"/>
                <a:ea typeface="Roboto" pitchFamily="34" charset="-122"/>
                <a:cs typeface="Roboto" pitchFamily="34" charset="-120"/>
              </a:rPr>
              <a:t>Higher degrees create more complex, curved decision boundaries.</a:t>
            </a:r>
            <a:endParaRPr lang="en-US" sz="1000" dirty="0"/>
          </a:p>
        </p:txBody>
      </p:sp>
      <p:sp>
        <p:nvSpPr>
          <p:cNvPr id="8" name="Text 6"/>
          <p:cNvSpPr/>
          <p:nvPr/>
        </p:nvSpPr>
        <p:spPr>
          <a:xfrm>
            <a:off x="521137" y="2626519"/>
            <a:ext cx="6635115" cy="195382"/>
          </a:xfrm>
          <a:prstGeom prst="rect">
            <a:avLst/>
          </a:prstGeom>
          <a:noFill/>
          <a:ln/>
        </p:spPr>
        <p:txBody>
          <a:bodyPr wrap="none" lIns="0" tIns="0" rIns="0" bIns="0" rtlCol="0" anchor="t"/>
          <a:lstStyle/>
          <a:p>
            <a:pPr algn="l" marL="342900" indent="-342900">
              <a:lnSpc>
                <a:spcPts val="1500"/>
              </a:lnSpc>
              <a:buSzPct val="100000"/>
              <a:buChar char="•"/>
            </a:pPr>
            <a:r>
              <a:rPr lang="en-US" sz="1000" dirty="0">
                <a:solidFill>
                  <a:srgbClr val="384653"/>
                </a:solidFill>
                <a:latin typeface="Roboto" pitchFamily="34" charset="0"/>
                <a:ea typeface="Roboto" pitchFamily="34" charset="-122"/>
                <a:cs typeface="Roboto" pitchFamily="34" charset="-120"/>
              </a:rPr>
              <a:t>Default value is typically 3.</a:t>
            </a:r>
            <a:endParaRPr lang="en-US" sz="1000" dirty="0"/>
          </a:p>
        </p:txBody>
      </p:sp>
      <p:pic>
        <p:nvPicPr>
          <p:cNvPr id="9" name="Image 0" descr="preencoded.png">    </p:cNvPr>
          <p:cNvPicPr>
            <a:picLocks noChangeAspect="1"/>
          </p:cNvPicPr>
          <p:nvPr/>
        </p:nvPicPr>
        <p:blipFill>
          <a:blip r:embed="rId1"/>
          <a:stretch>
            <a:fillRect/>
          </a:stretch>
        </p:blipFill>
        <p:spPr>
          <a:xfrm>
            <a:off x="521137" y="2968466"/>
            <a:ext cx="6153507" cy="3566874"/>
          </a:xfrm>
          <a:prstGeom prst="rect">
            <a:avLst/>
          </a:prstGeom>
        </p:spPr>
      </p:pic>
      <p:sp>
        <p:nvSpPr>
          <p:cNvPr id="10" name="Text 7"/>
          <p:cNvSpPr/>
          <p:nvPr/>
        </p:nvSpPr>
        <p:spPr>
          <a:xfrm>
            <a:off x="7481768" y="1498163"/>
            <a:ext cx="1628656" cy="203597"/>
          </a:xfrm>
          <a:prstGeom prst="rect">
            <a:avLst/>
          </a:prstGeom>
          <a:noFill/>
          <a:ln/>
        </p:spPr>
        <p:txBody>
          <a:bodyPr wrap="none" lIns="0" tIns="0" rIns="0" bIns="0" rtlCol="0" anchor="t"/>
          <a:lstStyle/>
          <a:p>
            <a:pPr algn="l" indent="0" marL="0">
              <a:lnSpc>
                <a:spcPts val="1600"/>
              </a:lnSpc>
              <a:buNone/>
            </a:pPr>
            <a:r>
              <a:rPr lang="en-US" sz="1250" dirty="0">
                <a:solidFill>
                  <a:srgbClr val="2E3C4E"/>
                </a:solidFill>
                <a:latin typeface="Host Grotesk Medium" pitchFamily="34" charset="0"/>
                <a:ea typeface="Host Grotesk Medium" pitchFamily="34" charset="-122"/>
                <a:cs typeface="Host Grotesk Medium" pitchFamily="34" charset="-120"/>
              </a:rPr>
              <a:t>Class Weight</a:t>
            </a:r>
            <a:endParaRPr lang="en-US" sz="1250" dirty="0"/>
          </a:p>
        </p:txBody>
      </p:sp>
      <p:sp>
        <p:nvSpPr>
          <p:cNvPr id="11" name="Text 8"/>
          <p:cNvSpPr/>
          <p:nvPr/>
        </p:nvSpPr>
        <p:spPr>
          <a:xfrm>
            <a:off x="7481768" y="1832015"/>
            <a:ext cx="6635115" cy="195382"/>
          </a:xfrm>
          <a:prstGeom prst="rect">
            <a:avLst/>
          </a:prstGeom>
          <a:noFill/>
          <a:ln/>
        </p:spPr>
        <p:txBody>
          <a:bodyPr wrap="none" lIns="0" tIns="0" rIns="0" bIns="0" rtlCol="0" anchor="t"/>
          <a:lstStyle/>
          <a:p>
            <a:pPr algn="l" indent="0" marL="0">
              <a:lnSpc>
                <a:spcPts val="1500"/>
              </a:lnSpc>
              <a:buNone/>
            </a:pPr>
            <a:r>
              <a:rPr lang="en-US" sz="1000" dirty="0">
                <a:solidFill>
                  <a:srgbClr val="384653"/>
                </a:solidFill>
                <a:latin typeface="Roboto" pitchFamily="34" charset="0"/>
                <a:ea typeface="Roboto" pitchFamily="34" charset="-122"/>
                <a:cs typeface="Roboto" pitchFamily="34" charset="-120"/>
              </a:rPr>
              <a:t>Crucial for addressing imbalanced datasets.</a:t>
            </a:r>
            <a:endParaRPr lang="en-US" sz="1000" dirty="0"/>
          </a:p>
        </p:txBody>
      </p:sp>
      <p:sp>
        <p:nvSpPr>
          <p:cNvPr id="12" name="Text 9"/>
          <p:cNvSpPr/>
          <p:nvPr/>
        </p:nvSpPr>
        <p:spPr>
          <a:xfrm>
            <a:off x="7481768" y="2144554"/>
            <a:ext cx="6635115" cy="195382"/>
          </a:xfrm>
          <a:prstGeom prst="rect">
            <a:avLst/>
          </a:prstGeom>
          <a:noFill/>
          <a:ln/>
        </p:spPr>
        <p:txBody>
          <a:bodyPr wrap="none" lIns="0" tIns="0" rIns="0" bIns="0" rtlCol="0" anchor="t"/>
          <a:lstStyle/>
          <a:p>
            <a:pPr algn="l" marL="342900" indent="-342900">
              <a:lnSpc>
                <a:spcPts val="1500"/>
              </a:lnSpc>
              <a:buSzPct val="100000"/>
              <a:buChar char="•"/>
            </a:pPr>
            <a:r>
              <a:rPr lang="en-US" sz="1000" dirty="0">
                <a:solidFill>
                  <a:srgbClr val="384653"/>
                </a:solidFill>
                <a:latin typeface="Roboto" pitchFamily="34" charset="0"/>
                <a:ea typeface="Roboto" pitchFamily="34" charset="-122"/>
                <a:cs typeface="Roboto" pitchFamily="34" charset="-120"/>
              </a:rPr>
              <a:t>Assigns higher penalties to misclassifying the minority class.</a:t>
            </a:r>
            <a:endParaRPr lang="en-US" sz="1000" dirty="0"/>
          </a:p>
        </p:txBody>
      </p:sp>
      <p:sp>
        <p:nvSpPr>
          <p:cNvPr id="13" name="Text 10"/>
          <p:cNvSpPr/>
          <p:nvPr/>
        </p:nvSpPr>
        <p:spPr>
          <a:xfrm>
            <a:off x="7481768" y="2385536"/>
            <a:ext cx="6635115" cy="195382"/>
          </a:xfrm>
          <a:prstGeom prst="rect">
            <a:avLst/>
          </a:prstGeom>
          <a:noFill/>
          <a:ln/>
        </p:spPr>
        <p:txBody>
          <a:bodyPr wrap="none" lIns="0" tIns="0" rIns="0" bIns="0" rtlCol="0" anchor="t"/>
          <a:lstStyle/>
          <a:p>
            <a:pPr algn="l" marL="342900" indent="-342900">
              <a:lnSpc>
                <a:spcPts val="1500"/>
              </a:lnSpc>
              <a:buSzPct val="100000"/>
              <a:buChar char="•"/>
            </a:pPr>
            <a:r>
              <a:rPr lang="en-US" sz="1000" dirty="0">
                <a:solidFill>
                  <a:srgbClr val="384653"/>
                </a:solidFill>
                <a:latin typeface="Roboto" pitchFamily="34" charset="0"/>
                <a:ea typeface="Roboto" pitchFamily="34" charset="-122"/>
                <a:cs typeface="Roboto" pitchFamily="34" charset="-120"/>
              </a:rPr>
              <a:t>Helps prevent the model from becoming biased towards the majority class.</a:t>
            </a:r>
            <a:endParaRPr lang="en-US" sz="1000" dirty="0"/>
          </a:p>
        </p:txBody>
      </p:sp>
      <p:pic>
        <p:nvPicPr>
          <p:cNvPr id="14" name="Image 1" descr="preencoded.png">    </p:cNvPr>
          <p:cNvPicPr>
            <a:picLocks noChangeAspect="1"/>
          </p:cNvPicPr>
          <p:nvPr/>
        </p:nvPicPr>
        <p:blipFill>
          <a:blip r:embed="rId2"/>
          <a:stretch>
            <a:fillRect/>
          </a:stretch>
        </p:blipFill>
        <p:spPr>
          <a:xfrm>
            <a:off x="7481768" y="2727484"/>
            <a:ext cx="5084802" cy="3566874"/>
          </a:xfrm>
          <a:prstGeom prst="rect">
            <a:avLst/>
          </a:prstGeom>
        </p:spPr>
      </p:pic>
      <p:sp>
        <p:nvSpPr>
          <p:cNvPr id="15" name="Shape 11"/>
          <p:cNvSpPr/>
          <p:nvPr/>
        </p:nvSpPr>
        <p:spPr>
          <a:xfrm>
            <a:off x="521137" y="6828473"/>
            <a:ext cx="13588127" cy="1284684"/>
          </a:xfrm>
          <a:prstGeom prst="roundRect">
            <a:avLst>
              <a:gd name="adj" fmla="val 4260"/>
            </a:avLst>
          </a:prstGeom>
          <a:solidFill>
            <a:srgbClr val="C6E4EB"/>
          </a:solidFill>
          <a:ln/>
        </p:spPr>
      </p:sp>
      <p:pic>
        <p:nvPicPr>
          <p:cNvPr id="16" name="Image 2" descr="preencoded.png">    </p:cNvPr>
          <p:cNvPicPr>
            <a:picLocks noChangeAspect="1"/>
          </p:cNvPicPr>
          <p:nvPr/>
        </p:nvPicPr>
        <p:blipFill>
          <a:blip r:embed="rId3"/>
          <a:stretch>
            <a:fillRect/>
          </a:stretch>
        </p:blipFill>
        <p:spPr>
          <a:xfrm>
            <a:off x="651391" y="7001113"/>
            <a:ext cx="203478" cy="162758"/>
          </a:xfrm>
          <a:prstGeom prst="rect">
            <a:avLst/>
          </a:prstGeom>
        </p:spPr>
      </p:pic>
      <p:sp>
        <p:nvSpPr>
          <p:cNvPr id="17" name="Text 12"/>
          <p:cNvSpPr/>
          <p:nvPr/>
        </p:nvSpPr>
        <p:spPr>
          <a:xfrm>
            <a:off x="985123" y="6991231"/>
            <a:ext cx="1854875" cy="203597"/>
          </a:xfrm>
          <a:prstGeom prst="rect">
            <a:avLst/>
          </a:prstGeom>
          <a:noFill/>
          <a:ln/>
        </p:spPr>
        <p:txBody>
          <a:bodyPr wrap="none" lIns="0" tIns="0" rIns="0" bIns="0" rtlCol="0" anchor="t"/>
          <a:lstStyle/>
          <a:p>
            <a:pPr algn="l" indent="0" marL="0">
              <a:lnSpc>
                <a:spcPts val="1600"/>
              </a:lnSpc>
              <a:buNone/>
            </a:pPr>
            <a:r>
              <a:rPr lang="en-US" sz="1250" dirty="0">
                <a:solidFill>
                  <a:srgbClr val="000000"/>
                </a:solidFill>
                <a:latin typeface="Host Grotesk Medium" pitchFamily="34" charset="0"/>
                <a:ea typeface="Host Grotesk Medium" pitchFamily="34" charset="-122"/>
                <a:cs typeface="Host Grotesk Medium" pitchFamily="34" charset="-120"/>
              </a:rPr>
              <a:t>Other Useful Parameters:</a:t>
            </a:r>
            <a:endParaRPr lang="en-US" sz="1250" dirty="0"/>
          </a:p>
        </p:txBody>
      </p:sp>
      <p:sp>
        <p:nvSpPr>
          <p:cNvPr id="18" name="Text 13"/>
          <p:cNvSpPr/>
          <p:nvPr/>
        </p:nvSpPr>
        <p:spPr>
          <a:xfrm>
            <a:off x="985123" y="7325082"/>
            <a:ext cx="12993886" cy="195382"/>
          </a:xfrm>
          <a:prstGeom prst="rect">
            <a:avLst/>
          </a:prstGeom>
          <a:noFill/>
          <a:ln/>
        </p:spPr>
        <p:txBody>
          <a:bodyPr wrap="none" lIns="0" tIns="0" rIns="0" bIns="0" rtlCol="0" anchor="t"/>
          <a:lstStyle/>
          <a:p>
            <a:pPr algn="l" marL="342900" indent="-342900">
              <a:lnSpc>
                <a:spcPts val="1500"/>
              </a:lnSpc>
              <a:buSzPct val="100000"/>
              <a:buChar char="•"/>
            </a:pPr>
            <a:r>
              <a:rPr lang="en-US" sz="1000" b="1" dirty="0">
                <a:solidFill>
                  <a:srgbClr val="000000"/>
                </a:solidFill>
                <a:latin typeface="Roboto" pitchFamily="34" charset="0"/>
                <a:ea typeface="Roboto" pitchFamily="34" charset="-122"/>
                <a:cs typeface="Roboto" pitchFamily="34" charset="-120"/>
              </a:rPr>
              <a:t>probability=True:</a:t>
            </a:r>
            <a:pPr algn="l" indent="0" marL="0">
              <a:lnSpc>
                <a:spcPts val="1500"/>
              </a:lnSpc>
              <a:buNone/>
            </a:pPr>
            <a:r>
              <a:rPr lang="en-US" sz="1000" dirty="0">
                <a:solidFill>
                  <a:srgbClr val="000000"/>
                </a:solidFill>
                <a:latin typeface="Roboto" pitchFamily="34" charset="0"/>
                <a:ea typeface="Roboto" pitchFamily="34" charset="-122"/>
                <a:cs typeface="Roboto" pitchFamily="34" charset="-120"/>
              </a:rPr>
              <a:t> Enables probability estimates for predictions.</a:t>
            </a:r>
            <a:endParaRPr lang="en-US" sz="1000" dirty="0"/>
          </a:p>
        </p:txBody>
      </p:sp>
      <p:sp>
        <p:nvSpPr>
          <p:cNvPr id="19" name="Text 14"/>
          <p:cNvSpPr/>
          <p:nvPr/>
        </p:nvSpPr>
        <p:spPr>
          <a:xfrm>
            <a:off x="985123" y="7566065"/>
            <a:ext cx="12993886" cy="195382"/>
          </a:xfrm>
          <a:prstGeom prst="rect">
            <a:avLst/>
          </a:prstGeom>
          <a:noFill/>
          <a:ln/>
        </p:spPr>
        <p:txBody>
          <a:bodyPr wrap="none" lIns="0" tIns="0" rIns="0" bIns="0" rtlCol="0" anchor="t"/>
          <a:lstStyle/>
          <a:p>
            <a:pPr algn="l" marL="342900" indent="-342900">
              <a:lnSpc>
                <a:spcPts val="1500"/>
              </a:lnSpc>
              <a:buSzPct val="100000"/>
              <a:buChar char="•"/>
            </a:pPr>
            <a:r>
              <a:rPr lang="en-US" sz="1000" b="1" dirty="0">
                <a:solidFill>
                  <a:srgbClr val="000000"/>
                </a:solidFill>
                <a:latin typeface="Roboto" pitchFamily="34" charset="0"/>
                <a:ea typeface="Roboto" pitchFamily="34" charset="-122"/>
                <a:cs typeface="Roboto" pitchFamily="34" charset="-120"/>
              </a:rPr>
              <a:t>shrinking=True:</a:t>
            </a:r>
            <a:pPr algn="l" indent="0" marL="0">
              <a:lnSpc>
                <a:spcPts val="1500"/>
              </a:lnSpc>
              <a:buNone/>
            </a:pPr>
            <a:r>
              <a:rPr lang="en-US" sz="1000" dirty="0">
                <a:solidFill>
                  <a:srgbClr val="000000"/>
                </a:solidFill>
                <a:latin typeface="Roboto" pitchFamily="34" charset="0"/>
                <a:ea typeface="Roboto" pitchFamily="34" charset="-122"/>
                <a:cs typeface="Roboto" pitchFamily="34" charset="-120"/>
              </a:rPr>
              <a:t> Can improve training speed for larger datasets.</a:t>
            </a:r>
            <a:endParaRPr lang="en-US" sz="1000" dirty="0"/>
          </a:p>
        </p:txBody>
      </p:sp>
      <p:sp>
        <p:nvSpPr>
          <p:cNvPr id="20" name="Text 15"/>
          <p:cNvSpPr/>
          <p:nvPr/>
        </p:nvSpPr>
        <p:spPr>
          <a:xfrm>
            <a:off x="985123" y="7807047"/>
            <a:ext cx="12993886" cy="195382"/>
          </a:xfrm>
          <a:prstGeom prst="rect">
            <a:avLst/>
          </a:prstGeom>
          <a:noFill/>
          <a:ln/>
        </p:spPr>
        <p:txBody>
          <a:bodyPr wrap="none" lIns="0" tIns="0" rIns="0" bIns="0" rtlCol="0" anchor="t"/>
          <a:lstStyle/>
          <a:p>
            <a:pPr algn="l" marL="342900" indent="-342900">
              <a:lnSpc>
                <a:spcPts val="1500"/>
              </a:lnSpc>
              <a:buSzPct val="100000"/>
              <a:buChar char="•"/>
            </a:pPr>
            <a:r>
              <a:rPr lang="en-US" sz="1000" b="1" dirty="0">
                <a:solidFill>
                  <a:srgbClr val="000000"/>
                </a:solidFill>
                <a:latin typeface="Roboto" pitchFamily="34" charset="0"/>
                <a:ea typeface="Roboto" pitchFamily="34" charset="-122"/>
                <a:cs typeface="Roboto" pitchFamily="34" charset="-120"/>
              </a:rPr>
              <a:t>max_iter:</a:t>
            </a:r>
            <a:pPr algn="l" indent="0" marL="0">
              <a:lnSpc>
                <a:spcPts val="1500"/>
              </a:lnSpc>
              <a:buNone/>
            </a:pPr>
            <a:r>
              <a:rPr lang="en-US" sz="1000" dirty="0">
                <a:solidFill>
                  <a:srgbClr val="000000"/>
                </a:solidFill>
                <a:latin typeface="Roboto" pitchFamily="34" charset="0"/>
                <a:ea typeface="Roboto" pitchFamily="34" charset="-122"/>
                <a:cs typeface="Roboto" pitchFamily="34" charset="-120"/>
              </a:rPr>
              <a:t> Sets a limit on the number of iterations for training, preventing excessive runtimes.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37210" y="370642"/>
            <a:ext cx="8107680" cy="419695"/>
          </a:xfrm>
          <a:prstGeom prst="rect">
            <a:avLst/>
          </a:prstGeom>
          <a:noFill/>
          <a:ln/>
        </p:spPr>
        <p:txBody>
          <a:bodyPr wrap="none" lIns="0" tIns="0" rIns="0" bIns="0" rtlCol="0" anchor="t"/>
          <a:lstStyle/>
          <a:p>
            <a:pPr algn="l" indent="0" marL="0">
              <a:lnSpc>
                <a:spcPts val="3300"/>
              </a:lnSpc>
              <a:buNone/>
            </a:pPr>
            <a:r>
              <a:rPr lang="en-US" sz="2600" dirty="0">
                <a:solidFill>
                  <a:srgbClr val="2E3C4E"/>
                </a:solidFill>
                <a:latin typeface="Host Grotesk Medium" pitchFamily="34" charset="0"/>
                <a:ea typeface="Host Grotesk Medium" pitchFamily="34" charset="-122"/>
                <a:cs typeface="Host Grotesk Medium" pitchFamily="34" charset="-120"/>
              </a:rPr>
              <a:t>SVC Classification Workflow: From Data to Evaluation</a:t>
            </a:r>
            <a:endParaRPr lang="en-US" sz="2600" dirty="0"/>
          </a:p>
        </p:txBody>
      </p:sp>
      <p:sp>
        <p:nvSpPr>
          <p:cNvPr id="3" name="Text 1"/>
          <p:cNvSpPr/>
          <p:nvPr/>
        </p:nvSpPr>
        <p:spPr>
          <a:xfrm>
            <a:off x="537210" y="1058942"/>
            <a:ext cx="13555980" cy="201454"/>
          </a:xfrm>
          <a:prstGeom prst="rect">
            <a:avLst/>
          </a:prstGeom>
          <a:noFill/>
          <a:ln/>
        </p:spPr>
        <p:txBody>
          <a:bodyPr wrap="none" lIns="0" tIns="0" rIns="0" bIns="0" rtlCol="0" anchor="t"/>
          <a:lstStyle/>
          <a:p>
            <a:pPr algn="l" indent="0" marL="0">
              <a:lnSpc>
                <a:spcPts val="1550"/>
              </a:lnSpc>
              <a:buNone/>
            </a:pPr>
            <a:r>
              <a:rPr lang="en-US" sz="1050" dirty="0">
                <a:solidFill>
                  <a:srgbClr val="384653"/>
                </a:solidFill>
                <a:latin typeface="Roboto" pitchFamily="34" charset="0"/>
                <a:ea typeface="Roboto" pitchFamily="34" charset="-122"/>
                <a:cs typeface="Roboto" pitchFamily="34" charset="-120"/>
              </a:rPr>
              <a:t>Implementing SVC involves a systematic workflow, from initial data preparation to model evaluation and hyperparameter optimization.</a:t>
            </a:r>
            <a:endParaRPr lang="en-US" sz="1050" dirty="0"/>
          </a:p>
        </p:txBody>
      </p:sp>
      <p:pic>
        <p:nvPicPr>
          <p:cNvPr id="4" name="Image 0" descr="preencoded.png">    </p:cNvPr>
          <p:cNvPicPr>
            <a:picLocks noChangeAspect="1"/>
          </p:cNvPicPr>
          <p:nvPr/>
        </p:nvPicPr>
        <p:blipFill>
          <a:blip r:embed="rId1"/>
          <a:stretch>
            <a:fillRect/>
          </a:stretch>
        </p:blipFill>
        <p:spPr>
          <a:xfrm>
            <a:off x="537210" y="1411486"/>
            <a:ext cx="402908" cy="1143000"/>
          </a:xfrm>
          <a:prstGeom prst="rect">
            <a:avLst/>
          </a:prstGeom>
        </p:spPr>
      </p:pic>
      <p:sp>
        <p:nvSpPr>
          <p:cNvPr id="5" name="Text 2"/>
          <p:cNvSpPr/>
          <p:nvPr/>
        </p:nvSpPr>
        <p:spPr>
          <a:xfrm>
            <a:off x="1074420" y="1545788"/>
            <a:ext cx="1679019" cy="209788"/>
          </a:xfrm>
          <a:prstGeom prst="rect">
            <a:avLst/>
          </a:prstGeom>
          <a:noFill/>
          <a:ln/>
        </p:spPr>
        <p:txBody>
          <a:bodyPr wrap="none" lIns="0" tIns="0" rIns="0" bIns="0" rtlCol="0" anchor="t"/>
          <a:lstStyle/>
          <a:p>
            <a:pPr algn="l" indent="0" marL="0">
              <a:lnSpc>
                <a:spcPts val="1650"/>
              </a:lnSpc>
              <a:buNone/>
            </a:pPr>
            <a:r>
              <a:rPr lang="en-US" sz="1300" dirty="0">
                <a:solidFill>
                  <a:srgbClr val="384653"/>
                </a:solidFill>
                <a:latin typeface="Host Grotesk Medium" pitchFamily="34" charset="0"/>
                <a:ea typeface="Host Grotesk Medium" pitchFamily="34" charset="-122"/>
                <a:cs typeface="Host Grotesk Medium" pitchFamily="34" charset="-120"/>
              </a:rPr>
              <a:t>Import Dataset</a:t>
            </a:r>
            <a:endParaRPr lang="en-US" sz="1300" dirty="0"/>
          </a:p>
        </p:txBody>
      </p:sp>
      <p:sp>
        <p:nvSpPr>
          <p:cNvPr id="6" name="Text 3"/>
          <p:cNvSpPr/>
          <p:nvPr/>
        </p:nvSpPr>
        <p:spPr>
          <a:xfrm>
            <a:off x="1074420" y="1836063"/>
            <a:ext cx="13018770" cy="201454"/>
          </a:xfrm>
          <a:prstGeom prst="rect">
            <a:avLst/>
          </a:prstGeom>
          <a:noFill/>
          <a:ln/>
        </p:spPr>
        <p:txBody>
          <a:bodyPr wrap="none" lIns="0" tIns="0" rIns="0" bIns="0" rtlCol="0" anchor="t"/>
          <a:lstStyle/>
          <a:p>
            <a:pPr algn="l" indent="0" marL="0">
              <a:lnSpc>
                <a:spcPts val="1550"/>
              </a:lnSpc>
              <a:buNone/>
            </a:pPr>
            <a:r>
              <a:rPr lang="en-US" sz="1050" dirty="0">
                <a:solidFill>
                  <a:srgbClr val="384653"/>
                </a:solidFill>
                <a:latin typeface="Roboto" pitchFamily="34" charset="0"/>
                <a:ea typeface="Roboto" pitchFamily="34" charset="-122"/>
                <a:cs typeface="Roboto" pitchFamily="34" charset="-120"/>
              </a:rPr>
              <a:t>Load your labeled dataset, ensuring data quality and readiness for processing.</a:t>
            </a:r>
            <a:endParaRPr lang="en-US" sz="1050" dirty="0"/>
          </a:p>
        </p:txBody>
      </p:sp>
      <p:pic>
        <p:nvPicPr>
          <p:cNvPr id="7" name="Image 1" descr="preencoded.png">    </p:cNvPr>
          <p:cNvPicPr>
            <a:picLocks noChangeAspect="1"/>
          </p:cNvPicPr>
          <p:nvPr/>
        </p:nvPicPr>
        <p:blipFill>
          <a:blip r:embed="rId2"/>
          <a:stretch>
            <a:fillRect/>
          </a:stretch>
        </p:blipFill>
        <p:spPr>
          <a:xfrm>
            <a:off x="738664" y="2351723"/>
            <a:ext cx="402908" cy="1143000"/>
          </a:xfrm>
          <a:prstGeom prst="rect">
            <a:avLst/>
          </a:prstGeom>
        </p:spPr>
      </p:pic>
      <p:sp>
        <p:nvSpPr>
          <p:cNvPr id="8" name="Text 4"/>
          <p:cNvSpPr/>
          <p:nvPr/>
        </p:nvSpPr>
        <p:spPr>
          <a:xfrm>
            <a:off x="1275874" y="2486025"/>
            <a:ext cx="1679019" cy="209788"/>
          </a:xfrm>
          <a:prstGeom prst="rect">
            <a:avLst/>
          </a:prstGeom>
          <a:noFill/>
          <a:ln/>
        </p:spPr>
        <p:txBody>
          <a:bodyPr wrap="none" lIns="0" tIns="0" rIns="0" bIns="0" rtlCol="0" anchor="t"/>
          <a:lstStyle/>
          <a:p>
            <a:pPr algn="l" indent="0" marL="0">
              <a:lnSpc>
                <a:spcPts val="1650"/>
              </a:lnSpc>
              <a:buNone/>
            </a:pPr>
            <a:r>
              <a:rPr lang="en-US" sz="1300" dirty="0">
                <a:solidFill>
                  <a:srgbClr val="384653"/>
                </a:solidFill>
                <a:latin typeface="Host Grotesk Medium" pitchFamily="34" charset="0"/>
                <a:ea typeface="Host Grotesk Medium" pitchFamily="34" charset="-122"/>
                <a:cs typeface="Host Grotesk Medium" pitchFamily="34" charset="-120"/>
              </a:rPr>
              <a:t>Split Data</a:t>
            </a:r>
            <a:endParaRPr lang="en-US" sz="1300" dirty="0"/>
          </a:p>
        </p:txBody>
      </p:sp>
      <p:sp>
        <p:nvSpPr>
          <p:cNvPr id="9" name="Text 5"/>
          <p:cNvSpPr/>
          <p:nvPr/>
        </p:nvSpPr>
        <p:spPr>
          <a:xfrm>
            <a:off x="1275874" y="2776299"/>
            <a:ext cx="12817316" cy="201454"/>
          </a:xfrm>
          <a:prstGeom prst="rect">
            <a:avLst/>
          </a:prstGeom>
          <a:noFill/>
          <a:ln/>
        </p:spPr>
        <p:txBody>
          <a:bodyPr wrap="none" lIns="0" tIns="0" rIns="0" bIns="0" rtlCol="0" anchor="t"/>
          <a:lstStyle/>
          <a:p>
            <a:pPr algn="l" indent="0" marL="0">
              <a:lnSpc>
                <a:spcPts val="1550"/>
              </a:lnSpc>
              <a:buNone/>
            </a:pPr>
            <a:r>
              <a:rPr lang="en-US" sz="1050" dirty="0">
                <a:solidFill>
                  <a:srgbClr val="384653"/>
                </a:solidFill>
                <a:latin typeface="Roboto" pitchFamily="34" charset="0"/>
                <a:ea typeface="Roboto" pitchFamily="34" charset="-122"/>
                <a:cs typeface="Roboto" pitchFamily="34" charset="-120"/>
              </a:rPr>
              <a:t>Divide the dataset into training and testing sets to evaluate model performance objectively.</a:t>
            </a:r>
            <a:endParaRPr lang="en-US" sz="1050" dirty="0"/>
          </a:p>
        </p:txBody>
      </p:sp>
      <p:pic>
        <p:nvPicPr>
          <p:cNvPr id="10" name="Image 2" descr="preencoded.png">    </p:cNvPr>
          <p:cNvPicPr>
            <a:picLocks noChangeAspect="1"/>
          </p:cNvPicPr>
          <p:nvPr/>
        </p:nvPicPr>
        <p:blipFill>
          <a:blip r:embed="rId3"/>
          <a:stretch>
            <a:fillRect/>
          </a:stretch>
        </p:blipFill>
        <p:spPr>
          <a:xfrm>
            <a:off x="940118" y="3291959"/>
            <a:ext cx="402908" cy="1143000"/>
          </a:xfrm>
          <a:prstGeom prst="rect">
            <a:avLst/>
          </a:prstGeom>
        </p:spPr>
      </p:pic>
      <p:sp>
        <p:nvSpPr>
          <p:cNvPr id="11" name="Text 6"/>
          <p:cNvSpPr/>
          <p:nvPr/>
        </p:nvSpPr>
        <p:spPr>
          <a:xfrm>
            <a:off x="1477328" y="3426262"/>
            <a:ext cx="1679019" cy="209788"/>
          </a:xfrm>
          <a:prstGeom prst="rect">
            <a:avLst/>
          </a:prstGeom>
          <a:noFill/>
          <a:ln/>
        </p:spPr>
        <p:txBody>
          <a:bodyPr wrap="none" lIns="0" tIns="0" rIns="0" bIns="0" rtlCol="0" anchor="t"/>
          <a:lstStyle/>
          <a:p>
            <a:pPr algn="l" indent="0" marL="0">
              <a:lnSpc>
                <a:spcPts val="1650"/>
              </a:lnSpc>
              <a:buNone/>
            </a:pPr>
            <a:r>
              <a:rPr lang="en-US" sz="1300" dirty="0">
                <a:solidFill>
                  <a:srgbClr val="384653"/>
                </a:solidFill>
                <a:latin typeface="Host Grotesk Medium" pitchFamily="34" charset="0"/>
                <a:ea typeface="Host Grotesk Medium" pitchFamily="34" charset="-122"/>
                <a:cs typeface="Host Grotesk Medium" pitchFamily="34" charset="-120"/>
              </a:rPr>
              <a:t>Standardize Features</a:t>
            </a:r>
            <a:endParaRPr lang="en-US" sz="1300" dirty="0"/>
          </a:p>
        </p:txBody>
      </p:sp>
      <p:sp>
        <p:nvSpPr>
          <p:cNvPr id="12" name="Text 7"/>
          <p:cNvSpPr/>
          <p:nvPr/>
        </p:nvSpPr>
        <p:spPr>
          <a:xfrm>
            <a:off x="1477328" y="3716536"/>
            <a:ext cx="12615863" cy="201454"/>
          </a:xfrm>
          <a:prstGeom prst="rect">
            <a:avLst/>
          </a:prstGeom>
          <a:noFill/>
          <a:ln/>
        </p:spPr>
        <p:txBody>
          <a:bodyPr wrap="none" lIns="0" tIns="0" rIns="0" bIns="0" rtlCol="0" anchor="t"/>
          <a:lstStyle/>
          <a:p>
            <a:pPr algn="l" indent="0" marL="0">
              <a:lnSpc>
                <a:spcPts val="1550"/>
              </a:lnSpc>
              <a:buNone/>
            </a:pPr>
            <a:r>
              <a:rPr lang="en-US" sz="1050" dirty="0">
                <a:solidFill>
                  <a:srgbClr val="384653"/>
                </a:solidFill>
                <a:latin typeface="Roboto" pitchFamily="34" charset="0"/>
                <a:ea typeface="Roboto" pitchFamily="34" charset="-122"/>
                <a:cs typeface="Roboto" pitchFamily="34" charset="-120"/>
              </a:rPr>
              <a:t>Apply standardization or normalization to features, which often improves SVM performance, especially for kernels like RBF.</a:t>
            </a:r>
            <a:endParaRPr lang="en-US" sz="1050" dirty="0"/>
          </a:p>
        </p:txBody>
      </p:sp>
      <p:pic>
        <p:nvPicPr>
          <p:cNvPr id="13" name="Image 3" descr="preencoded.png">    </p:cNvPr>
          <p:cNvPicPr>
            <a:picLocks noChangeAspect="1"/>
          </p:cNvPicPr>
          <p:nvPr/>
        </p:nvPicPr>
        <p:blipFill>
          <a:blip r:embed="rId4"/>
          <a:stretch>
            <a:fillRect/>
          </a:stretch>
        </p:blipFill>
        <p:spPr>
          <a:xfrm>
            <a:off x="1141571" y="4232196"/>
            <a:ext cx="402908" cy="1143000"/>
          </a:xfrm>
          <a:prstGeom prst="rect">
            <a:avLst/>
          </a:prstGeom>
        </p:spPr>
      </p:pic>
      <p:sp>
        <p:nvSpPr>
          <p:cNvPr id="14" name="Text 8"/>
          <p:cNvSpPr/>
          <p:nvPr/>
        </p:nvSpPr>
        <p:spPr>
          <a:xfrm>
            <a:off x="1678781" y="4366498"/>
            <a:ext cx="1679019" cy="209788"/>
          </a:xfrm>
          <a:prstGeom prst="rect">
            <a:avLst/>
          </a:prstGeom>
          <a:noFill/>
          <a:ln/>
        </p:spPr>
        <p:txBody>
          <a:bodyPr wrap="none" lIns="0" tIns="0" rIns="0" bIns="0" rtlCol="0" anchor="t"/>
          <a:lstStyle/>
          <a:p>
            <a:pPr algn="l" indent="0" marL="0">
              <a:lnSpc>
                <a:spcPts val="1650"/>
              </a:lnSpc>
              <a:buNone/>
            </a:pPr>
            <a:r>
              <a:rPr lang="en-US" sz="1300" dirty="0">
                <a:solidFill>
                  <a:srgbClr val="384653"/>
                </a:solidFill>
                <a:latin typeface="Host Grotesk Medium" pitchFamily="34" charset="0"/>
                <a:ea typeface="Host Grotesk Medium" pitchFamily="34" charset="-122"/>
                <a:cs typeface="Host Grotesk Medium" pitchFamily="34" charset="-120"/>
              </a:rPr>
              <a:t>Choose Kernel</a:t>
            </a:r>
            <a:endParaRPr lang="en-US" sz="1300" dirty="0"/>
          </a:p>
        </p:txBody>
      </p:sp>
      <p:sp>
        <p:nvSpPr>
          <p:cNvPr id="15" name="Text 9"/>
          <p:cNvSpPr/>
          <p:nvPr/>
        </p:nvSpPr>
        <p:spPr>
          <a:xfrm>
            <a:off x="1678781" y="4656773"/>
            <a:ext cx="12414409" cy="201454"/>
          </a:xfrm>
          <a:prstGeom prst="rect">
            <a:avLst/>
          </a:prstGeom>
          <a:noFill/>
          <a:ln/>
        </p:spPr>
        <p:txBody>
          <a:bodyPr wrap="none" lIns="0" tIns="0" rIns="0" bIns="0" rtlCol="0" anchor="t"/>
          <a:lstStyle/>
          <a:p>
            <a:pPr algn="l" indent="0" marL="0">
              <a:lnSpc>
                <a:spcPts val="1550"/>
              </a:lnSpc>
              <a:buNone/>
            </a:pPr>
            <a:r>
              <a:rPr lang="en-US" sz="1050" dirty="0">
                <a:solidFill>
                  <a:srgbClr val="384653"/>
                </a:solidFill>
                <a:latin typeface="Roboto" pitchFamily="34" charset="0"/>
                <a:ea typeface="Roboto" pitchFamily="34" charset="-122"/>
                <a:cs typeface="Roboto" pitchFamily="34" charset="-120"/>
              </a:rPr>
              <a:t>Select an appropriate kernel function (e.g., RBF is a common starting point) based on the data's characteristics.</a:t>
            </a:r>
            <a:endParaRPr lang="en-US" sz="1050" dirty="0"/>
          </a:p>
        </p:txBody>
      </p:sp>
      <p:pic>
        <p:nvPicPr>
          <p:cNvPr id="16" name="Image 4" descr="preencoded.png">    </p:cNvPr>
          <p:cNvPicPr>
            <a:picLocks noChangeAspect="1"/>
          </p:cNvPicPr>
          <p:nvPr/>
        </p:nvPicPr>
        <p:blipFill>
          <a:blip r:embed="rId5"/>
          <a:stretch>
            <a:fillRect/>
          </a:stretch>
        </p:blipFill>
        <p:spPr>
          <a:xfrm>
            <a:off x="940118" y="5172432"/>
            <a:ext cx="402908" cy="1143000"/>
          </a:xfrm>
          <a:prstGeom prst="rect">
            <a:avLst/>
          </a:prstGeom>
        </p:spPr>
      </p:pic>
      <p:sp>
        <p:nvSpPr>
          <p:cNvPr id="17" name="Text 10"/>
          <p:cNvSpPr/>
          <p:nvPr/>
        </p:nvSpPr>
        <p:spPr>
          <a:xfrm>
            <a:off x="1477328" y="5306735"/>
            <a:ext cx="1679019" cy="209788"/>
          </a:xfrm>
          <a:prstGeom prst="rect">
            <a:avLst/>
          </a:prstGeom>
          <a:noFill/>
          <a:ln/>
        </p:spPr>
        <p:txBody>
          <a:bodyPr wrap="none" lIns="0" tIns="0" rIns="0" bIns="0" rtlCol="0" anchor="t"/>
          <a:lstStyle/>
          <a:p>
            <a:pPr algn="l" indent="0" marL="0">
              <a:lnSpc>
                <a:spcPts val="1650"/>
              </a:lnSpc>
              <a:buNone/>
            </a:pPr>
            <a:r>
              <a:rPr lang="en-US" sz="1300" dirty="0">
                <a:solidFill>
                  <a:srgbClr val="384653"/>
                </a:solidFill>
                <a:latin typeface="Host Grotesk Medium" pitchFamily="34" charset="0"/>
                <a:ea typeface="Host Grotesk Medium" pitchFamily="34" charset="-122"/>
                <a:cs typeface="Host Grotesk Medium" pitchFamily="34" charset="-120"/>
              </a:rPr>
              <a:t>Train SVC Model</a:t>
            </a:r>
            <a:endParaRPr lang="en-US" sz="1300" dirty="0"/>
          </a:p>
        </p:txBody>
      </p:sp>
      <p:sp>
        <p:nvSpPr>
          <p:cNvPr id="18" name="Text 11"/>
          <p:cNvSpPr/>
          <p:nvPr/>
        </p:nvSpPr>
        <p:spPr>
          <a:xfrm>
            <a:off x="1477328" y="5597009"/>
            <a:ext cx="12615863" cy="201454"/>
          </a:xfrm>
          <a:prstGeom prst="rect">
            <a:avLst/>
          </a:prstGeom>
          <a:noFill/>
          <a:ln/>
        </p:spPr>
        <p:txBody>
          <a:bodyPr wrap="none" lIns="0" tIns="0" rIns="0" bIns="0" rtlCol="0" anchor="t"/>
          <a:lstStyle/>
          <a:p>
            <a:pPr algn="l" indent="0" marL="0">
              <a:lnSpc>
                <a:spcPts val="1550"/>
              </a:lnSpc>
              <a:buNone/>
            </a:pPr>
            <a:r>
              <a:rPr lang="en-US" sz="1050" dirty="0">
                <a:solidFill>
                  <a:srgbClr val="384653"/>
                </a:solidFill>
                <a:latin typeface="Roboto" pitchFamily="34" charset="0"/>
                <a:ea typeface="Roboto" pitchFamily="34" charset="-122"/>
                <a:cs typeface="Roboto" pitchFamily="34" charset="-120"/>
              </a:rPr>
              <a:t>Fit the SVC model to your training data using the chosen kernel and initial hyperparameters.</a:t>
            </a:r>
            <a:endParaRPr lang="en-US" sz="1050" dirty="0"/>
          </a:p>
        </p:txBody>
      </p:sp>
      <p:pic>
        <p:nvPicPr>
          <p:cNvPr id="19" name="Image 5" descr="preencoded.png">    </p:cNvPr>
          <p:cNvPicPr>
            <a:picLocks noChangeAspect="1"/>
          </p:cNvPicPr>
          <p:nvPr/>
        </p:nvPicPr>
        <p:blipFill>
          <a:blip r:embed="rId6"/>
          <a:stretch>
            <a:fillRect/>
          </a:stretch>
        </p:blipFill>
        <p:spPr>
          <a:xfrm>
            <a:off x="738664" y="6112669"/>
            <a:ext cx="402908" cy="1143000"/>
          </a:xfrm>
          <a:prstGeom prst="rect">
            <a:avLst/>
          </a:prstGeom>
        </p:spPr>
      </p:pic>
      <p:sp>
        <p:nvSpPr>
          <p:cNvPr id="20" name="Text 12"/>
          <p:cNvSpPr/>
          <p:nvPr/>
        </p:nvSpPr>
        <p:spPr>
          <a:xfrm>
            <a:off x="1275874" y="6246971"/>
            <a:ext cx="1759029" cy="209788"/>
          </a:xfrm>
          <a:prstGeom prst="rect">
            <a:avLst/>
          </a:prstGeom>
          <a:noFill/>
          <a:ln/>
        </p:spPr>
        <p:txBody>
          <a:bodyPr wrap="none" lIns="0" tIns="0" rIns="0" bIns="0" rtlCol="0" anchor="t"/>
          <a:lstStyle/>
          <a:p>
            <a:pPr algn="l" indent="0" marL="0">
              <a:lnSpc>
                <a:spcPts val="1650"/>
              </a:lnSpc>
              <a:buNone/>
            </a:pPr>
            <a:r>
              <a:rPr lang="en-US" sz="1300" dirty="0">
                <a:solidFill>
                  <a:srgbClr val="384653"/>
                </a:solidFill>
                <a:latin typeface="Host Grotesk Medium" pitchFamily="34" charset="0"/>
                <a:ea typeface="Host Grotesk Medium" pitchFamily="34" charset="-122"/>
                <a:cs typeface="Host Grotesk Medium" pitchFamily="34" charset="-120"/>
              </a:rPr>
              <a:t>Tune Hyperparameters</a:t>
            </a:r>
            <a:endParaRPr lang="en-US" sz="1300" dirty="0"/>
          </a:p>
        </p:txBody>
      </p:sp>
      <p:sp>
        <p:nvSpPr>
          <p:cNvPr id="21" name="Text 13"/>
          <p:cNvSpPr/>
          <p:nvPr/>
        </p:nvSpPr>
        <p:spPr>
          <a:xfrm>
            <a:off x="1275874" y="6537246"/>
            <a:ext cx="12817316" cy="201454"/>
          </a:xfrm>
          <a:prstGeom prst="rect">
            <a:avLst/>
          </a:prstGeom>
          <a:noFill/>
          <a:ln/>
        </p:spPr>
        <p:txBody>
          <a:bodyPr wrap="none" lIns="0" tIns="0" rIns="0" bIns="0" rtlCol="0" anchor="t"/>
          <a:lstStyle/>
          <a:p>
            <a:pPr algn="l" indent="0" marL="0">
              <a:lnSpc>
                <a:spcPts val="1550"/>
              </a:lnSpc>
              <a:buNone/>
            </a:pPr>
            <a:r>
              <a:rPr lang="en-US" sz="1050" dirty="0">
                <a:solidFill>
                  <a:srgbClr val="384653"/>
                </a:solidFill>
                <a:latin typeface="Roboto" pitchFamily="34" charset="0"/>
                <a:ea typeface="Roboto" pitchFamily="34" charset="-122"/>
                <a:cs typeface="Roboto" pitchFamily="34" charset="-120"/>
              </a:rPr>
              <a:t>Optimize model performance using techniques like GridSearchCV to systematically search for the best combination of hyperparameters.</a:t>
            </a:r>
            <a:endParaRPr lang="en-US" sz="1050" dirty="0"/>
          </a:p>
        </p:txBody>
      </p:sp>
      <p:pic>
        <p:nvPicPr>
          <p:cNvPr id="22" name="Image 6" descr="preencoded.png">    </p:cNvPr>
          <p:cNvPicPr>
            <a:picLocks noChangeAspect="1"/>
          </p:cNvPicPr>
          <p:nvPr/>
        </p:nvPicPr>
        <p:blipFill>
          <a:blip r:embed="rId7"/>
          <a:stretch>
            <a:fillRect/>
          </a:stretch>
        </p:blipFill>
        <p:spPr>
          <a:xfrm>
            <a:off x="537210" y="7052905"/>
            <a:ext cx="402908" cy="1143000"/>
          </a:xfrm>
          <a:prstGeom prst="rect">
            <a:avLst/>
          </a:prstGeom>
        </p:spPr>
      </p:pic>
      <p:sp>
        <p:nvSpPr>
          <p:cNvPr id="23" name="Text 14"/>
          <p:cNvSpPr/>
          <p:nvPr/>
        </p:nvSpPr>
        <p:spPr>
          <a:xfrm>
            <a:off x="1074420" y="7187208"/>
            <a:ext cx="1679019" cy="209788"/>
          </a:xfrm>
          <a:prstGeom prst="rect">
            <a:avLst/>
          </a:prstGeom>
          <a:noFill/>
          <a:ln/>
        </p:spPr>
        <p:txBody>
          <a:bodyPr wrap="none" lIns="0" tIns="0" rIns="0" bIns="0" rtlCol="0" anchor="t"/>
          <a:lstStyle/>
          <a:p>
            <a:pPr algn="l" indent="0" marL="0">
              <a:lnSpc>
                <a:spcPts val="1650"/>
              </a:lnSpc>
              <a:buNone/>
            </a:pPr>
            <a:r>
              <a:rPr lang="en-US" sz="1300" dirty="0">
                <a:solidFill>
                  <a:srgbClr val="384653"/>
                </a:solidFill>
                <a:latin typeface="Host Grotesk Medium" pitchFamily="34" charset="0"/>
                <a:ea typeface="Host Grotesk Medium" pitchFamily="34" charset="-122"/>
                <a:cs typeface="Host Grotesk Medium" pitchFamily="34" charset="-120"/>
              </a:rPr>
              <a:t>Evaluate Performance</a:t>
            </a:r>
            <a:endParaRPr lang="en-US" sz="1300" dirty="0"/>
          </a:p>
        </p:txBody>
      </p:sp>
      <p:sp>
        <p:nvSpPr>
          <p:cNvPr id="24" name="Text 15"/>
          <p:cNvSpPr/>
          <p:nvPr/>
        </p:nvSpPr>
        <p:spPr>
          <a:xfrm>
            <a:off x="1074420" y="7477482"/>
            <a:ext cx="13018770" cy="201454"/>
          </a:xfrm>
          <a:prstGeom prst="rect">
            <a:avLst/>
          </a:prstGeom>
          <a:noFill/>
          <a:ln/>
        </p:spPr>
        <p:txBody>
          <a:bodyPr wrap="none" lIns="0" tIns="0" rIns="0" bIns="0" rtlCol="0" anchor="t"/>
          <a:lstStyle/>
          <a:p>
            <a:pPr algn="l" indent="0" marL="0">
              <a:lnSpc>
                <a:spcPts val="1550"/>
              </a:lnSpc>
              <a:buNone/>
            </a:pPr>
            <a:r>
              <a:rPr lang="en-US" sz="1050" dirty="0">
                <a:solidFill>
                  <a:srgbClr val="384653"/>
                </a:solidFill>
                <a:latin typeface="Roboto" pitchFamily="34" charset="0"/>
                <a:ea typeface="Roboto" pitchFamily="34" charset="-122"/>
                <a:cs typeface="Roboto" pitchFamily="34" charset="-120"/>
              </a:rPr>
              <a:t>Assess the model's effectiveness using metrics such as accuracy, confusion matrix, precision, recall, and F1-score on the test set.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2025-11-24T15:43:34Z</dcterms:created>
  <dcterms:modified xsi:type="dcterms:W3CDTF">2025-11-24T15:43:34Z</dcterms:modified>
</cp:coreProperties>
</file>